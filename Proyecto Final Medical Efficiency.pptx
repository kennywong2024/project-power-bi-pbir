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webextensions/webextension4.xml" ContentType="application/vnd.ms-office.webextension+xml"/>
  <Override PartName="/ppt/webextensions/webextension5.xml" ContentType="application/vnd.ms-office.webextension+xml"/>
  <Override PartName="/ppt/webextensions/webextension6.xml" ContentType="application/vnd.ms-office.webextension+xml"/>
  <Override PartName="/ppt/webextensions/webextension7.xml" ContentType="application/vnd.ms-office.webextension+xml"/>
  <Override PartName="/ppt/comments/comment1.xml" ContentType="application/vnd.openxmlformats-officedocument.presentationml.comments+xml"/>
  <Override PartName="/ppt/webextensions/webextension8.xml" ContentType="application/vnd.ms-office.webextension+xml"/>
  <Override PartName="/ppt/webextensions/webextension9.xml" ContentType="application/vnd.ms-office.webextension+xml"/>
  <Override PartName="/ppt/webextensions/webextension10.xml" ContentType="application/vnd.ms-office.webextension+xml"/>
  <Override PartName="/ppt/webextensions/webextension11.xml" ContentType="application/vnd.ms-office.webextension+xml"/>
  <Override PartName="/ppt/webextensions/webextension12.xml" ContentType="application/vnd.ms-office.webextension+xml"/>
  <Override PartName="/ppt/webextensions/webextension13.xml" ContentType="application/vnd.ms-office.webextension+xml"/>
  <Override PartName="/ppt/webextensions/webextension14.xml" ContentType="application/vnd.ms-office.webextensio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58" r:id="rId5"/>
    <p:sldId id="261" r:id="rId6"/>
    <p:sldId id="259" r:id="rId7"/>
    <p:sldId id="260" r:id="rId8"/>
    <p:sldId id="264" r:id="rId9"/>
    <p:sldId id="263" r:id="rId10"/>
    <p:sldId id="265" r:id="rId11"/>
    <p:sldId id="266" r:id="rId12"/>
  </p:sldIdLst>
  <p:sldSz cx="12192000" cy="6858000"/>
  <p:notesSz cx="6858000" cy="9144000"/>
  <p:defaultText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RA REYES EDLYN AMABEL" initials="LREA" lastIdx="1" clrIdx="0">
    <p:extLst>
      <p:ext uri="{19B8F6BF-5375-455C-9EA6-DF929625EA0E}">
        <p15:presenceInfo xmlns:p15="http://schemas.microsoft.com/office/powerpoint/2012/main" userId="LARA REYES EDLYN AMABE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ADFE5"/>
    <a:srgbClr val="1E293B"/>
    <a:srgbClr val="93C5FD"/>
    <a:srgbClr val="EF4444"/>
    <a:srgbClr val="3B82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02" d="100"/>
          <a:sy n="102" d="100"/>
        </p:scale>
        <p:origin x="126" y="6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3-04T15:26:08.867" idx="1">
    <p:pos x="10" y="10"/>
    <p:text>Especialidades como Cirugía General tienen consultas que van desde lo normal hasta los 120 minutos, creando una incertidumbre que satura nuestras salas de espera</p:text>
    <p:extLst>
      <p:ext uri="{C676402C-5697-4E1C-873F-D02D1690AC5C}">
        <p15:threadingInfo xmlns:p15="http://schemas.microsoft.com/office/powerpoint/2012/main" timeZoneBias="36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7D615-0C15-450A-B4D8-80CC76F364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CR"/>
          </a:p>
        </p:txBody>
      </p:sp>
      <p:sp>
        <p:nvSpPr>
          <p:cNvPr id="3" name="Subtitle 2">
            <a:extLst>
              <a:ext uri="{FF2B5EF4-FFF2-40B4-BE49-F238E27FC236}">
                <a16:creationId xmlns:a16="http://schemas.microsoft.com/office/drawing/2014/main" id="{2FCF6CAC-615B-48B5-9D83-294363A479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CR"/>
          </a:p>
        </p:txBody>
      </p:sp>
      <p:sp>
        <p:nvSpPr>
          <p:cNvPr id="4" name="Date Placeholder 3">
            <a:extLst>
              <a:ext uri="{FF2B5EF4-FFF2-40B4-BE49-F238E27FC236}">
                <a16:creationId xmlns:a16="http://schemas.microsoft.com/office/drawing/2014/main" id="{35210D2D-FEED-4CB3-B9CD-402054A91953}"/>
              </a:ext>
            </a:extLst>
          </p:cNvPr>
          <p:cNvSpPr>
            <a:spLocks noGrp="1"/>
          </p:cNvSpPr>
          <p:nvPr>
            <p:ph type="dt" sz="half" idx="10"/>
          </p:nvPr>
        </p:nvSpPr>
        <p:spPr/>
        <p:txBody>
          <a:bodyPr/>
          <a:lstStyle/>
          <a:p>
            <a:fld id="{C56CC08D-1DE1-42B7-AFFB-FAA5F9C82512}" type="datetimeFigureOut">
              <a:rPr lang="es-CR" smtClean="0"/>
              <a:t>4/3/2026</a:t>
            </a:fld>
            <a:endParaRPr lang="es-CR"/>
          </a:p>
        </p:txBody>
      </p:sp>
      <p:sp>
        <p:nvSpPr>
          <p:cNvPr id="5" name="Footer Placeholder 4">
            <a:extLst>
              <a:ext uri="{FF2B5EF4-FFF2-40B4-BE49-F238E27FC236}">
                <a16:creationId xmlns:a16="http://schemas.microsoft.com/office/drawing/2014/main" id="{1281C0B4-BFBE-4F09-AC8A-879AA15FDBDE}"/>
              </a:ext>
            </a:extLst>
          </p:cNvPr>
          <p:cNvSpPr>
            <a:spLocks noGrp="1"/>
          </p:cNvSpPr>
          <p:nvPr>
            <p:ph type="ftr" sz="quarter" idx="11"/>
          </p:nvPr>
        </p:nvSpPr>
        <p:spPr/>
        <p:txBody>
          <a:bodyPr/>
          <a:lstStyle/>
          <a:p>
            <a:endParaRPr lang="es-CR"/>
          </a:p>
        </p:txBody>
      </p:sp>
      <p:sp>
        <p:nvSpPr>
          <p:cNvPr id="6" name="Slide Number Placeholder 5">
            <a:extLst>
              <a:ext uri="{FF2B5EF4-FFF2-40B4-BE49-F238E27FC236}">
                <a16:creationId xmlns:a16="http://schemas.microsoft.com/office/drawing/2014/main" id="{DDE43F90-AC44-47FD-A8A7-11E986082C37}"/>
              </a:ext>
            </a:extLst>
          </p:cNvPr>
          <p:cNvSpPr>
            <a:spLocks noGrp="1"/>
          </p:cNvSpPr>
          <p:nvPr>
            <p:ph type="sldNum" sz="quarter" idx="12"/>
          </p:nvPr>
        </p:nvSpPr>
        <p:spPr/>
        <p:txBody>
          <a:bodyPr/>
          <a:lstStyle/>
          <a:p>
            <a:fld id="{04BBC805-1B94-4851-8725-6A725939D901}" type="slidenum">
              <a:rPr lang="es-CR" smtClean="0"/>
              <a:t>‹#›</a:t>
            </a:fld>
            <a:endParaRPr lang="es-CR"/>
          </a:p>
        </p:txBody>
      </p:sp>
    </p:spTree>
    <p:extLst>
      <p:ext uri="{BB962C8B-B14F-4D97-AF65-F5344CB8AC3E}">
        <p14:creationId xmlns:p14="http://schemas.microsoft.com/office/powerpoint/2010/main" val="471095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F6E03-C7BA-44E6-AD98-3CBA8DB53A59}"/>
              </a:ext>
            </a:extLst>
          </p:cNvPr>
          <p:cNvSpPr>
            <a:spLocks noGrp="1"/>
          </p:cNvSpPr>
          <p:nvPr>
            <p:ph type="title"/>
          </p:nvPr>
        </p:nvSpPr>
        <p:spPr/>
        <p:txBody>
          <a:bodyPr/>
          <a:lstStyle/>
          <a:p>
            <a:r>
              <a:rPr lang="en-US"/>
              <a:t>Click to edit Master title style</a:t>
            </a:r>
            <a:endParaRPr lang="es-CR"/>
          </a:p>
        </p:txBody>
      </p:sp>
      <p:sp>
        <p:nvSpPr>
          <p:cNvPr id="3" name="Content Placeholder 2">
            <a:extLst>
              <a:ext uri="{FF2B5EF4-FFF2-40B4-BE49-F238E27FC236}">
                <a16:creationId xmlns:a16="http://schemas.microsoft.com/office/drawing/2014/main" id="{BCA2E4DA-F963-492A-83FD-58EC8E4B49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4" name="Date Placeholder 3">
            <a:extLst>
              <a:ext uri="{FF2B5EF4-FFF2-40B4-BE49-F238E27FC236}">
                <a16:creationId xmlns:a16="http://schemas.microsoft.com/office/drawing/2014/main" id="{02F6078F-69CA-43F2-A976-E2D027DED4CF}"/>
              </a:ext>
            </a:extLst>
          </p:cNvPr>
          <p:cNvSpPr>
            <a:spLocks noGrp="1"/>
          </p:cNvSpPr>
          <p:nvPr>
            <p:ph type="dt" sz="half" idx="10"/>
          </p:nvPr>
        </p:nvSpPr>
        <p:spPr/>
        <p:txBody>
          <a:bodyPr/>
          <a:lstStyle/>
          <a:p>
            <a:fld id="{C56CC08D-1DE1-42B7-AFFB-FAA5F9C82512}" type="datetimeFigureOut">
              <a:rPr lang="es-CR" smtClean="0"/>
              <a:t>4/3/2026</a:t>
            </a:fld>
            <a:endParaRPr lang="es-CR"/>
          </a:p>
        </p:txBody>
      </p:sp>
      <p:sp>
        <p:nvSpPr>
          <p:cNvPr id="5" name="Footer Placeholder 4">
            <a:extLst>
              <a:ext uri="{FF2B5EF4-FFF2-40B4-BE49-F238E27FC236}">
                <a16:creationId xmlns:a16="http://schemas.microsoft.com/office/drawing/2014/main" id="{B8252F96-C4A4-43E9-95E8-CDC9D79C1B6D}"/>
              </a:ext>
            </a:extLst>
          </p:cNvPr>
          <p:cNvSpPr>
            <a:spLocks noGrp="1"/>
          </p:cNvSpPr>
          <p:nvPr>
            <p:ph type="ftr" sz="quarter" idx="11"/>
          </p:nvPr>
        </p:nvSpPr>
        <p:spPr/>
        <p:txBody>
          <a:bodyPr/>
          <a:lstStyle/>
          <a:p>
            <a:endParaRPr lang="es-CR"/>
          </a:p>
        </p:txBody>
      </p:sp>
      <p:sp>
        <p:nvSpPr>
          <p:cNvPr id="6" name="Slide Number Placeholder 5">
            <a:extLst>
              <a:ext uri="{FF2B5EF4-FFF2-40B4-BE49-F238E27FC236}">
                <a16:creationId xmlns:a16="http://schemas.microsoft.com/office/drawing/2014/main" id="{447ED23C-40FF-458C-A4A0-1421CF3466EA}"/>
              </a:ext>
            </a:extLst>
          </p:cNvPr>
          <p:cNvSpPr>
            <a:spLocks noGrp="1"/>
          </p:cNvSpPr>
          <p:nvPr>
            <p:ph type="sldNum" sz="quarter" idx="12"/>
          </p:nvPr>
        </p:nvSpPr>
        <p:spPr/>
        <p:txBody>
          <a:bodyPr/>
          <a:lstStyle/>
          <a:p>
            <a:fld id="{04BBC805-1B94-4851-8725-6A725939D901}" type="slidenum">
              <a:rPr lang="es-CR" smtClean="0"/>
              <a:t>‹#›</a:t>
            </a:fld>
            <a:endParaRPr lang="es-CR"/>
          </a:p>
        </p:txBody>
      </p:sp>
    </p:spTree>
    <p:extLst>
      <p:ext uri="{BB962C8B-B14F-4D97-AF65-F5344CB8AC3E}">
        <p14:creationId xmlns:p14="http://schemas.microsoft.com/office/powerpoint/2010/main" val="2117228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00083-4684-4F28-86F5-0AABEEF5B0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CR"/>
          </a:p>
        </p:txBody>
      </p:sp>
      <p:sp>
        <p:nvSpPr>
          <p:cNvPr id="3" name="Text Placeholder 2">
            <a:extLst>
              <a:ext uri="{FF2B5EF4-FFF2-40B4-BE49-F238E27FC236}">
                <a16:creationId xmlns:a16="http://schemas.microsoft.com/office/drawing/2014/main" id="{188A30C8-FF19-4420-B6E1-139066D144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CCA035-7010-4470-8E39-5B9870D3E473}"/>
              </a:ext>
            </a:extLst>
          </p:cNvPr>
          <p:cNvSpPr>
            <a:spLocks noGrp="1"/>
          </p:cNvSpPr>
          <p:nvPr>
            <p:ph type="dt" sz="half" idx="10"/>
          </p:nvPr>
        </p:nvSpPr>
        <p:spPr/>
        <p:txBody>
          <a:bodyPr/>
          <a:lstStyle/>
          <a:p>
            <a:fld id="{C56CC08D-1DE1-42B7-AFFB-FAA5F9C82512}" type="datetimeFigureOut">
              <a:rPr lang="es-CR" smtClean="0"/>
              <a:t>4/3/2026</a:t>
            </a:fld>
            <a:endParaRPr lang="es-CR"/>
          </a:p>
        </p:txBody>
      </p:sp>
      <p:sp>
        <p:nvSpPr>
          <p:cNvPr id="5" name="Footer Placeholder 4">
            <a:extLst>
              <a:ext uri="{FF2B5EF4-FFF2-40B4-BE49-F238E27FC236}">
                <a16:creationId xmlns:a16="http://schemas.microsoft.com/office/drawing/2014/main" id="{55C02543-A141-46D0-AD87-E1714C614C78}"/>
              </a:ext>
            </a:extLst>
          </p:cNvPr>
          <p:cNvSpPr>
            <a:spLocks noGrp="1"/>
          </p:cNvSpPr>
          <p:nvPr>
            <p:ph type="ftr" sz="quarter" idx="11"/>
          </p:nvPr>
        </p:nvSpPr>
        <p:spPr/>
        <p:txBody>
          <a:bodyPr/>
          <a:lstStyle/>
          <a:p>
            <a:endParaRPr lang="es-CR"/>
          </a:p>
        </p:txBody>
      </p:sp>
      <p:sp>
        <p:nvSpPr>
          <p:cNvPr id="6" name="Slide Number Placeholder 5">
            <a:extLst>
              <a:ext uri="{FF2B5EF4-FFF2-40B4-BE49-F238E27FC236}">
                <a16:creationId xmlns:a16="http://schemas.microsoft.com/office/drawing/2014/main" id="{31C71596-8FCF-4B82-ABFA-F413B78DF679}"/>
              </a:ext>
            </a:extLst>
          </p:cNvPr>
          <p:cNvSpPr>
            <a:spLocks noGrp="1"/>
          </p:cNvSpPr>
          <p:nvPr>
            <p:ph type="sldNum" sz="quarter" idx="12"/>
          </p:nvPr>
        </p:nvSpPr>
        <p:spPr/>
        <p:txBody>
          <a:bodyPr/>
          <a:lstStyle/>
          <a:p>
            <a:fld id="{04BBC805-1B94-4851-8725-6A725939D901}" type="slidenum">
              <a:rPr lang="es-CR" smtClean="0"/>
              <a:t>‹#›</a:t>
            </a:fld>
            <a:endParaRPr lang="es-CR"/>
          </a:p>
        </p:txBody>
      </p:sp>
    </p:spTree>
    <p:extLst>
      <p:ext uri="{BB962C8B-B14F-4D97-AF65-F5344CB8AC3E}">
        <p14:creationId xmlns:p14="http://schemas.microsoft.com/office/powerpoint/2010/main" val="3786064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CA121-B9EE-4DF1-96A3-E5B0919F8597}"/>
              </a:ext>
            </a:extLst>
          </p:cNvPr>
          <p:cNvSpPr>
            <a:spLocks noGrp="1"/>
          </p:cNvSpPr>
          <p:nvPr>
            <p:ph type="title"/>
          </p:nvPr>
        </p:nvSpPr>
        <p:spPr/>
        <p:txBody>
          <a:bodyPr/>
          <a:lstStyle/>
          <a:p>
            <a:r>
              <a:rPr lang="en-US"/>
              <a:t>Click to edit Master title style</a:t>
            </a:r>
            <a:endParaRPr lang="es-CR"/>
          </a:p>
        </p:txBody>
      </p:sp>
      <p:sp>
        <p:nvSpPr>
          <p:cNvPr id="3" name="Content Placeholder 2">
            <a:extLst>
              <a:ext uri="{FF2B5EF4-FFF2-40B4-BE49-F238E27FC236}">
                <a16:creationId xmlns:a16="http://schemas.microsoft.com/office/drawing/2014/main" id="{63A450AF-F6A6-46B8-A61A-5E6B1B8ADE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4" name="Content Placeholder 3">
            <a:extLst>
              <a:ext uri="{FF2B5EF4-FFF2-40B4-BE49-F238E27FC236}">
                <a16:creationId xmlns:a16="http://schemas.microsoft.com/office/drawing/2014/main" id="{ABACCAAF-458A-47E7-AC30-4064166E4C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5" name="Date Placeholder 4">
            <a:extLst>
              <a:ext uri="{FF2B5EF4-FFF2-40B4-BE49-F238E27FC236}">
                <a16:creationId xmlns:a16="http://schemas.microsoft.com/office/drawing/2014/main" id="{84929B2B-E84A-4EB8-879B-6ADF2D13C5E7}"/>
              </a:ext>
            </a:extLst>
          </p:cNvPr>
          <p:cNvSpPr>
            <a:spLocks noGrp="1"/>
          </p:cNvSpPr>
          <p:nvPr>
            <p:ph type="dt" sz="half" idx="10"/>
          </p:nvPr>
        </p:nvSpPr>
        <p:spPr/>
        <p:txBody>
          <a:bodyPr/>
          <a:lstStyle/>
          <a:p>
            <a:fld id="{C56CC08D-1DE1-42B7-AFFB-FAA5F9C82512}" type="datetimeFigureOut">
              <a:rPr lang="es-CR" smtClean="0"/>
              <a:t>4/3/2026</a:t>
            </a:fld>
            <a:endParaRPr lang="es-CR"/>
          </a:p>
        </p:txBody>
      </p:sp>
      <p:sp>
        <p:nvSpPr>
          <p:cNvPr id="6" name="Footer Placeholder 5">
            <a:extLst>
              <a:ext uri="{FF2B5EF4-FFF2-40B4-BE49-F238E27FC236}">
                <a16:creationId xmlns:a16="http://schemas.microsoft.com/office/drawing/2014/main" id="{DBEC670F-FBDF-4B05-9A60-8505C189EEEF}"/>
              </a:ext>
            </a:extLst>
          </p:cNvPr>
          <p:cNvSpPr>
            <a:spLocks noGrp="1"/>
          </p:cNvSpPr>
          <p:nvPr>
            <p:ph type="ftr" sz="quarter" idx="11"/>
          </p:nvPr>
        </p:nvSpPr>
        <p:spPr/>
        <p:txBody>
          <a:bodyPr/>
          <a:lstStyle/>
          <a:p>
            <a:endParaRPr lang="es-CR"/>
          </a:p>
        </p:txBody>
      </p:sp>
      <p:sp>
        <p:nvSpPr>
          <p:cNvPr id="7" name="Slide Number Placeholder 6">
            <a:extLst>
              <a:ext uri="{FF2B5EF4-FFF2-40B4-BE49-F238E27FC236}">
                <a16:creationId xmlns:a16="http://schemas.microsoft.com/office/drawing/2014/main" id="{00BDCD68-82BD-4005-BFE5-F83C1FC58BA1}"/>
              </a:ext>
            </a:extLst>
          </p:cNvPr>
          <p:cNvSpPr>
            <a:spLocks noGrp="1"/>
          </p:cNvSpPr>
          <p:nvPr>
            <p:ph type="sldNum" sz="quarter" idx="12"/>
          </p:nvPr>
        </p:nvSpPr>
        <p:spPr/>
        <p:txBody>
          <a:bodyPr/>
          <a:lstStyle/>
          <a:p>
            <a:fld id="{04BBC805-1B94-4851-8725-6A725939D901}" type="slidenum">
              <a:rPr lang="es-CR" smtClean="0"/>
              <a:t>‹#›</a:t>
            </a:fld>
            <a:endParaRPr lang="es-CR"/>
          </a:p>
        </p:txBody>
      </p:sp>
    </p:spTree>
    <p:extLst>
      <p:ext uri="{BB962C8B-B14F-4D97-AF65-F5344CB8AC3E}">
        <p14:creationId xmlns:p14="http://schemas.microsoft.com/office/powerpoint/2010/main" val="2390598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C0274-5C0C-4552-960B-67EB82D6C485}"/>
              </a:ext>
            </a:extLst>
          </p:cNvPr>
          <p:cNvSpPr>
            <a:spLocks noGrp="1"/>
          </p:cNvSpPr>
          <p:nvPr>
            <p:ph type="title"/>
          </p:nvPr>
        </p:nvSpPr>
        <p:spPr>
          <a:xfrm>
            <a:off x="839788" y="365125"/>
            <a:ext cx="10515600" cy="1325563"/>
          </a:xfrm>
        </p:spPr>
        <p:txBody>
          <a:bodyPr/>
          <a:lstStyle/>
          <a:p>
            <a:r>
              <a:rPr lang="en-US"/>
              <a:t>Click to edit Master title style</a:t>
            </a:r>
            <a:endParaRPr lang="es-CR"/>
          </a:p>
        </p:txBody>
      </p:sp>
      <p:sp>
        <p:nvSpPr>
          <p:cNvPr id="3" name="Text Placeholder 2">
            <a:extLst>
              <a:ext uri="{FF2B5EF4-FFF2-40B4-BE49-F238E27FC236}">
                <a16:creationId xmlns:a16="http://schemas.microsoft.com/office/drawing/2014/main" id="{73052074-4A98-476D-BFEA-1AB26E3432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650B89-83A9-4B52-B8E3-0E683570AA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5" name="Text Placeholder 4">
            <a:extLst>
              <a:ext uri="{FF2B5EF4-FFF2-40B4-BE49-F238E27FC236}">
                <a16:creationId xmlns:a16="http://schemas.microsoft.com/office/drawing/2014/main" id="{5A1DB6C2-CCD7-47E3-82F9-4E9364FF63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3FE544-BBE0-44EC-BC41-7D11502834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7" name="Date Placeholder 6">
            <a:extLst>
              <a:ext uri="{FF2B5EF4-FFF2-40B4-BE49-F238E27FC236}">
                <a16:creationId xmlns:a16="http://schemas.microsoft.com/office/drawing/2014/main" id="{B490E7D7-BA81-4779-9693-BB5158A67DE1}"/>
              </a:ext>
            </a:extLst>
          </p:cNvPr>
          <p:cNvSpPr>
            <a:spLocks noGrp="1"/>
          </p:cNvSpPr>
          <p:nvPr>
            <p:ph type="dt" sz="half" idx="10"/>
          </p:nvPr>
        </p:nvSpPr>
        <p:spPr/>
        <p:txBody>
          <a:bodyPr/>
          <a:lstStyle/>
          <a:p>
            <a:fld id="{C56CC08D-1DE1-42B7-AFFB-FAA5F9C82512}" type="datetimeFigureOut">
              <a:rPr lang="es-CR" smtClean="0"/>
              <a:t>4/3/2026</a:t>
            </a:fld>
            <a:endParaRPr lang="es-CR"/>
          </a:p>
        </p:txBody>
      </p:sp>
      <p:sp>
        <p:nvSpPr>
          <p:cNvPr id="8" name="Footer Placeholder 7">
            <a:extLst>
              <a:ext uri="{FF2B5EF4-FFF2-40B4-BE49-F238E27FC236}">
                <a16:creationId xmlns:a16="http://schemas.microsoft.com/office/drawing/2014/main" id="{F6F27F8F-E7F1-4376-967D-2276CD58CEC4}"/>
              </a:ext>
            </a:extLst>
          </p:cNvPr>
          <p:cNvSpPr>
            <a:spLocks noGrp="1"/>
          </p:cNvSpPr>
          <p:nvPr>
            <p:ph type="ftr" sz="quarter" idx="11"/>
          </p:nvPr>
        </p:nvSpPr>
        <p:spPr/>
        <p:txBody>
          <a:bodyPr/>
          <a:lstStyle/>
          <a:p>
            <a:endParaRPr lang="es-CR"/>
          </a:p>
        </p:txBody>
      </p:sp>
      <p:sp>
        <p:nvSpPr>
          <p:cNvPr id="9" name="Slide Number Placeholder 8">
            <a:extLst>
              <a:ext uri="{FF2B5EF4-FFF2-40B4-BE49-F238E27FC236}">
                <a16:creationId xmlns:a16="http://schemas.microsoft.com/office/drawing/2014/main" id="{61D815F7-C5EB-4B70-AE9B-904D18BB9421}"/>
              </a:ext>
            </a:extLst>
          </p:cNvPr>
          <p:cNvSpPr>
            <a:spLocks noGrp="1"/>
          </p:cNvSpPr>
          <p:nvPr>
            <p:ph type="sldNum" sz="quarter" idx="12"/>
          </p:nvPr>
        </p:nvSpPr>
        <p:spPr/>
        <p:txBody>
          <a:bodyPr/>
          <a:lstStyle/>
          <a:p>
            <a:fld id="{04BBC805-1B94-4851-8725-6A725939D901}" type="slidenum">
              <a:rPr lang="es-CR" smtClean="0"/>
              <a:t>‹#›</a:t>
            </a:fld>
            <a:endParaRPr lang="es-CR"/>
          </a:p>
        </p:txBody>
      </p:sp>
    </p:spTree>
    <p:extLst>
      <p:ext uri="{BB962C8B-B14F-4D97-AF65-F5344CB8AC3E}">
        <p14:creationId xmlns:p14="http://schemas.microsoft.com/office/powerpoint/2010/main" val="407531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FF33A-3404-4A2D-8312-3DF51AD0485D}"/>
              </a:ext>
            </a:extLst>
          </p:cNvPr>
          <p:cNvSpPr>
            <a:spLocks noGrp="1"/>
          </p:cNvSpPr>
          <p:nvPr>
            <p:ph type="title"/>
          </p:nvPr>
        </p:nvSpPr>
        <p:spPr/>
        <p:txBody>
          <a:bodyPr/>
          <a:lstStyle/>
          <a:p>
            <a:r>
              <a:rPr lang="en-US"/>
              <a:t>Click to edit Master title style</a:t>
            </a:r>
            <a:endParaRPr lang="es-CR"/>
          </a:p>
        </p:txBody>
      </p:sp>
      <p:sp>
        <p:nvSpPr>
          <p:cNvPr id="3" name="Date Placeholder 2">
            <a:extLst>
              <a:ext uri="{FF2B5EF4-FFF2-40B4-BE49-F238E27FC236}">
                <a16:creationId xmlns:a16="http://schemas.microsoft.com/office/drawing/2014/main" id="{3BEA14B4-2823-44A0-9A61-A6818E605487}"/>
              </a:ext>
            </a:extLst>
          </p:cNvPr>
          <p:cNvSpPr>
            <a:spLocks noGrp="1"/>
          </p:cNvSpPr>
          <p:nvPr>
            <p:ph type="dt" sz="half" idx="10"/>
          </p:nvPr>
        </p:nvSpPr>
        <p:spPr/>
        <p:txBody>
          <a:bodyPr/>
          <a:lstStyle/>
          <a:p>
            <a:fld id="{C56CC08D-1DE1-42B7-AFFB-FAA5F9C82512}" type="datetimeFigureOut">
              <a:rPr lang="es-CR" smtClean="0"/>
              <a:t>4/3/2026</a:t>
            </a:fld>
            <a:endParaRPr lang="es-CR"/>
          </a:p>
        </p:txBody>
      </p:sp>
      <p:sp>
        <p:nvSpPr>
          <p:cNvPr id="4" name="Footer Placeholder 3">
            <a:extLst>
              <a:ext uri="{FF2B5EF4-FFF2-40B4-BE49-F238E27FC236}">
                <a16:creationId xmlns:a16="http://schemas.microsoft.com/office/drawing/2014/main" id="{C485BEB1-6B36-4AB6-9E37-C752B59859C7}"/>
              </a:ext>
            </a:extLst>
          </p:cNvPr>
          <p:cNvSpPr>
            <a:spLocks noGrp="1"/>
          </p:cNvSpPr>
          <p:nvPr>
            <p:ph type="ftr" sz="quarter" idx="11"/>
          </p:nvPr>
        </p:nvSpPr>
        <p:spPr/>
        <p:txBody>
          <a:bodyPr/>
          <a:lstStyle/>
          <a:p>
            <a:endParaRPr lang="es-CR"/>
          </a:p>
        </p:txBody>
      </p:sp>
      <p:sp>
        <p:nvSpPr>
          <p:cNvPr id="5" name="Slide Number Placeholder 4">
            <a:extLst>
              <a:ext uri="{FF2B5EF4-FFF2-40B4-BE49-F238E27FC236}">
                <a16:creationId xmlns:a16="http://schemas.microsoft.com/office/drawing/2014/main" id="{14358B98-1D83-46F7-9972-1E3B248B94E4}"/>
              </a:ext>
            </a:extLst>
          </p:cNvPr>
          <p:cNvSpPr>
            <a:spLocks noGrp="1"/>
          </p:cNvSpPr>
          <p:nvPr>
            <p:ph type="sldNum" sz="quarter" idx="12"/>
          </p:nvPr>
        </p:nvSpPr>
        <p:spPr/>
        <p:txBody>
          <a:bodyPr/>
          <a:lstStyle/>
          <a:p>
            <a:fld id="{04BBC805-1B94-4851-8725-6A725939D901}" type="slidenum">
              <a:rPr lang="es-CR" smtClean="0"/>
              <a:t>‹#›</a:t>
            </a:fld>
            <a:endParaRPr lang="es-CR"/>
          </a:p>
        </p:txBody>
      </p:sp>
    </p:spTree>
    <p:extLst>
      <p:ext uri="{BB962C8B-B14F-4D97-AF65-F5344CB8AC3E}">
        <p14:creationId xmlns:p14="http://schemas.microsoft.com/office/powerpoint/2010/main" val="2174095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56A391-9CAF-4602-8BB0-F02CDFB6D057}"/>
              </a:ext>
            </a:extLst>
          </p:cNvPr>
          <p:cNvSpPr>
            <a:spLocks noGrp="1"/>
          </p:cNvSpPr>
          <p:nvPr>
            <p:ph type="dt" sz="half" idx="10"/>
          </p:nvPr>
        </p:nvSpPr>
        <p:spPr/>
        <p:txBody>
          <a:bodyPr/>
          <a:lstStyle/>
          <a:p>
            <a:fld id="{C56CC08D-1DE1-42B7-AFFB-FAA5F9C82512}" type="datetimeFigureOut">
              <a:rPr lang="es-CR" smtClean="0"/>
              <a:t>4/3/2026</a:t>
            </a:fld>
            <a:endParaRPr lang="es-CR"/>
          </a:p>
        </p:txBody>
      </p:sp>
      <p:sp>
        <p:nvSpPr>
          <p:cNvPr id="3" name="Footer Placeholder 2">
            <a:extLst>
              <a:ext uri="{FF2B5EF4-FFF2-40B4-BE49-F238E27FC236}">
                <a16:creationId xmlns:a16="http://schemas.microsoft.com/office/drawing/2014/main" id="{582C8F31-748D-4380-8744-EB405B228762}"/>
              </a:ext>
            </a:extLst>
          </p:cNvPr>
          <p:cNvSpPr>
            <a:spLocks noGrp="1"/>
          </p:cNvSpPr>
          <p:nvPr>
            <p:ph type="ftr" sz="quarter" idx="11"/>
          </p:nvPr>
        </p:nvSpPr>
        <p:spPr/>
        <p:txBody>
          <a:bodyPr/>
          <a:lstStyle/>
          <a:p>
            <a:endParaRPr lang="es-CR"/>
          </a:p>
        </p:txBody>
      </p:sp>
      <p:sp>
        <p:nvSpPr>
          <p:cNvPr id="4" name="Slide Number Placeholder 3">
            <a:extLst>
              <a:ext uri="{FF2B5EF4-FFF2-40B4-BE49-F238E27FC236}">
                <a16:creationId xmlns:a16="http://schemas.microsoft.com/office/drawing/2014/main" id="{DDACB7D2-4A97-4032-BF8D-BEE4EF02726E}"/>
              </a:ext>
            </a:extLst>
          </p:cNvPr>
          <p:cNvSpPr>
            <a:spLocks noGrp="1"/>
          </p:cNvSpPr>
          <p:nvPr>
            <p:ph type="sldNum" sz="quarter" idx="12"/>
          </p:nvPr>
        </p:nvSpPr>
        <p:spPr/>
        <p:txBody>
          <a:bodyPr/>
          <a:lstStyle/>
          <a:p>
            <a:fld id="{04BBC805-1B94-4851-8725-6A725939D901}" type="slidenum">
              <a:rPr lang="es-CR" smtClean="0"/>
              <a:t>‹#›</a:t>
            </a:fld>
            <a:endParaRPr lang="es-CR"/>
          </a:p>
        </p:txBody>
      </p:sp>
    </p:spTree>
    <p:extLst>
      <p:ext uri="{BB962C8B-B14F-4D97-AF65-F5344CB8AC3E}">
        <p14:creationId xmlns:p14="http://schemas.microsoft.com/office/powerpoint/2010/main" val="2349297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3AA95-F6AD-4DF4-98DE-07DBB639F9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CR"/>
          </a:p>
        </p:txBody>
      </p:sp>
      <p:sp>
        <p:nvSpPr>
          <p:cNvPr id="3" name="Content Placeholder 2">
            <a:extLst>
              <a:ext uri="{FF2B5EF4-FFF2-40B4-BE49-F238E27FC236}">
                <a16:creationId xmlns:a16="http://schemas.microsoft.com/office/drawing/2014/main" id="{9B0E4128-BFC4-4A11-A4ED-D84802BFB0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4" name="Text Placeholder 3">
            <a:extLst>
              <a:ext uri="{FF2B5EF4-FFF2-40B4-BE49-F238E27FC236}">
                <a16:creationId xmlns:a16="http://schemas.microsoft.com/office/drawing/2014/main" id="{F6D1C887-761C-47C7-AA24-8FF3BF08FD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40C0B0-F02F-4E0C-96A6-88D5D8D56849}"/>
              </a:ext>
            </a:extLst>
          </p:cNvPr>
          <p:cNvSpPr>
            <a:spLocks noGrp="1"/>
          </p:cNvSpPr>
          <p:nvPr>
            <p:ph type="dt" sz="half" idx="10"/>
          </p:nvPr>
        </p:nvSpPr>
        <p:spPr/>
        <p:txBody>
          <a:bodyPr/>
          <a:lstStyle/>
          <a:p>
            <a:fld id="{C56CC08D-1DE1-42B7-AFFB-FAA5F9C82512}" type="datetimeFigureOut">
              <a:rPr lang="es-CR" smtClean="0"/>
              <a:t>4/3/2026</a:t>
            </a:fld>
            <a:endParaRPr lang="es-CR"/>
          </a:p>
        </p:txBody>
      </p:sp>
      <p:sp>
        <p:nvSpPr>
          <p:cNvPr id="6" name="Footer Placeholder 5">
            <a:extLst>
              <a:ext uri="{FF2B5EF4-FFF2-40B4-BE49-F238E27FC236}">
                <a16:creationId xmlns:a16="http://schemas.microsoft.com/office/drawing/2014/main" id="{2B16C22E-9AA1-49E1-8A53-73BE084105D4}"/>
              </a:ext>
            </a:extLst>
          </p:cNvPr>
          <p:cNvSpPr>
            <a:spLocks noGrp="1"/>
          </p:cNvSpPr>
          <p:nvPr>
            <p:ph type="ftr" sz="quarter" idx="11"/>
          </p:nvPr>
        </p:nvSpPr>
        <p:spPr/>
        <p:txBody>
          <a:bodyPr/>
          <a:lstStyle/>
          <a:p>
            <a:endParaRPr lang="es-CR"/>
          </a:p>
        </p:txBody>
      </p:sp>
      <p:sp>
        <p:nvSpPr>
          <p:cNvPr id="7" name="Slide Number Placeholder 6">
            <a:extLst>
              <a:ext uri="{FF2B5EF4-FFF2-40B4-BE49-F238E27FC236}">
                <a16:creationId xmlns:a16="http://schemas.microsoft.com/office/drawing/2014/main" id="{35F71B4D-9D6B-4D25-B565-1720CBDC807A}"/>
              </a:ext>
            </a:extLst>
          </p:cNvPr>
          <p:cNvSpPr>
            <a:spLocks noGrp="1"/>
          </p:cNvSpPr>
          <p:nvPr>
            <p:ph type="sldNum" sz="quarter" idx="12"/>
          </p:nvPr>
        </p:nvSpPr>
        <p:spPr/>
        <p:txBody>
          <a:bodyPr/>
          <a:lstStyle/>
          <a:p>
            <a:fld id="{04BBC805-1B94-4851-8725-6A725939D901}" type="slidenum">
              <a:rPr lang="es-CR" smtClean="0"/>
              <a:t>‹#›</a:t>
            </a:fld>
            <a:endParaRPr lang="es-CR"/>
          </a:p>
        </p:txBody>
      </p:sp>
    </p:spTree>
    <p:extLst>
      <p:ext uri="{BB962C8B-B14F-4D97-AF65-F5344CB8AC3E}">
        <p14:creationId xmlns:p14="http://schemas.microsoft.com/office/powerpoint/2010/main" val="1886963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0C473-1516-46DA-88A4-D9399A71E6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CR"/>
          </a:p>
        </p:txBody>
      </p:sp>
      <p:sp>
        <p:nvSpPr>
          <p:cNvPr id="3" name="Picture Placeholder 2">
            <a:extLst>
              <a:ext uri="{FF2B5EF4-FFF2-40B4-BE49-F238E27FC236}">
                <a16:creationId xmlns:a16="http://schemas.microsoft.com/office/drawing/2014/main" id="{4F14D763-A810-410E-BC80-A146CAD8F9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R"/>
          </a:p>
        </p:txBody>
      </p:sp>
      <p:sp>
        <p:nvSpPr>
          <p:cNvPr id="4" name="Text Placeholder 3">
            <a:extLst>
              <a:ext uri="{FF2B5EF4-FFF2-40B4-BE49-F238E27FC236}">
                <a16:creationId xmlns:a16="http://schemas.microsoft.com/office/drawing/2014/main" id="{96699948-C7C8-4AAF-B620-06382F8C0F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D53452-6EEA-47B3-B8AF-AEA69B1AA92D}"/>
              </a:ext>
            </a:extLst>
          </p:cNvPr>
          <p:cNvSpPr>
            <a:spLocks noGrp="1"/>
          </p:cNvSpPr>
          <p:nvPr>
            <p:ph type="dt" sz="half" idx="10"/>
          </p:nvPr>
        </p:nvSpPr>
        <p:spPr/>
        <p:txBody>
          <a:bodyPr/>
          <a:lstStyle/>
          <a:p>
            <a:fld id="{C56CC08D-1DE1-42B7-AFFB-FAA5F9C82512}" type="datetimeFigureOut">
              <a:rPr lang="es-CR" smtClean="0"/>
              <a:t>4/3/2026</a:t>
            </a:fld>
            <a:endParaRPr lang="es-CR"/>
          </a:p>
        </p:txBody>
      </p:sp>
      <p:sp>
        <p:nvSpPr>
          <p:cNvPr id="6" name="Footer Placeholder 5">
            <a:extLst>
              <a:ext uri="{FF2B5EF4-FFF2-40B4-BE49-F238E27FC236}">
                <a16:creationId xmlns:a16="http://schemas.microsoft.com/office/drawing/2014/main" id="{03173B20-693F-4FDC-8601-8038A0D101C6}"/>
              </a:ext>
            </a:extLst>
          </p:cNvPr>
          <p:cNvSpPr>
            <a:spLocks noGrp="1"/>
          </p:cNvSpPr>
          <p:nvPr>
            <p:ph type="ftr" sz="quarter" idx="11"/>
          </p:nvPr>
        </p:nvSpPr>
        <p:spPr/>
        <p:txBody>
          <a:bodyPr/>
          <a:lstStyle/>
          <a:p>
            <a:endParaRPr lang="es-CR"/>
          </a:p>
        </p:txBody>
      </p:sp>
      <p:sp>
        <p:nvSpPr>
          <p:cNvPr id="7" name="Slide Number Placeholder 6">
            <a:extLst>
              <a:ext uri="{FF2B5EF4-FFF2-40B4-BE49-F238E27FC236}">
                <a16:creationId xmlns:a16="http://schemas.microsoft.com/office/drawing/2014/main" id="{49E0EEAD-B3E4-4827-B6B0-3480E54D29E3}"/>
              </a:ext>
            </a:extLst>
          </p:cNvPr>
          <p:cNvSpPr>
            <a:spLocks noGrp="1"/>
          </p:cNvSpPr>
          <p:nvPr>
            <p:ph type="sldNum" sz="quarter" idx="12"/>
          </p:nvPr>
        </p:nvSpPr>
        <p:spPr/>
        <p:txBody>
          <a:bodyPr/>
          <a:lstStyle/>
          <a:p>
            <a:fld id="{04BBC805-1B94-4851-8725-6A725939D901}" type="slidenum">
              <a:rPr lang="es-CR" smtClean="0"/>
              <a:t>‹#›</a:t>
            </a:fld>
            <a:endParaRPr lang="es-CR"/>
          </a:p>
        </p:txBody>
      </p:sp>
    </p:spTree>
    <p:extLst>
      <p:ext uri="{BB962C8B-B14F-4D97-AF65-F5344CB8AC3E}">
        <p14:creationId xmlns:p14="http://schemas.microsoft.com/office/powerpoint/2010/main" val="923506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A708A-B916-40E3-85D2-AAC157E0B868}"/>
              </a:ext>
            </a:extLst>
          </p:cNvPr>
          <p:cNvSpPr>
            <a:spLocks noGrp="1"/>
          </p:cNvSpPr>
          <p:nvPr>
            <p:ph type="title"/>
          </p:nvPr>
        </p:nvSpPr>
        <p:spPr/>
        <p:txBody>
          <a:bodyPr/>
          <a:lstStyle/>
          <a:p>
            <a:r>
              <a:rPr lang="en-US"/>
              <a:t>Click to edit Master title style</a:t>
            </a:r>
            <a:endParaRPr lang="es-CR"/>
          </a:p>
        </p:txBody>
      </p:sp>
      <p:sp>
        <p:nvSpPr>
          <p:cNvPr id="3" name="Vertical Text Placeholder 2">
            <a:extLst>
              <a:ext uri="{FF2B5EF4-FFF2-40B4-BE49-F238E27FC236}">
                <a16:creationId xmlns:a16="http://schemas.microsoft.com/office/drawing/2014/main" id="{001696E4-3F69-4808-A02B-707B52F501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4" name="Date Placeholder 3">
            <a:extLst>
              <a:ext uri="{FF2B5EF4-FFF2-40B4-BE49-F238E27FC236}">
                <a16:creationId xmlns:a16="http://schemas.microsoft.com/office/drawing/2014/main" id="{395CC19B-35E6-48AF-A1C0-6EA3D3FCC5B4}"/>
              </a:ext>
            </a:extLst>
          </p:cNvPr>
          <p:cNvSpPr>
            <a:spLocks noGrp="1"/>
          </p:cNvSpPr>
          <p:nvPr>
            <p:ph type="dt" sz="half" idx="10"/>
          </p:nvPr>
        </p:nvSpPr>
        <p:spPr/>
        <p:txBody>
          <a:bodyPr/>
          <a:lstStyle/>
          <a:p>
            <a:fld id="{C56CC08D-1DE1-42B7-AFFB-FAA5F9C82512}" type="datetimeFigureOut">
              <a:rPr lang="es-CR" smtClean="0"/>
              <a:t>4/3/2026</a:t>
            </a:fld>
            <a:endParaRPr lang="es-CR"/>
          </a:p>
        </p:txBody>
      </p:sp>
      <p:sp>
        <p:nvSpPr>
          <p:cNvPr id="5" name="Footer Placeholder 4">
            <a:extLst>
              <a:ext uri="{FF2B5EF4-FFF2-40B4-BE49-F238E27FC236}">
                <a16:creationId xmlns:a16="http://schemas.microsoft.com/office/drawing/2014/main" id="{5180D22D-EF7B-4B2A-A27C-0B0368BFBAD9}"/>
              </a:ext>
            </a:extLst>
          </p:cNvPr>
          <p:cNvSpPr>
            <a:spLocks noGrp="1"/>
          </p:cNvSpPr>
          <p:nvPr>
            <p:ph type="ftr" sz="quarter" idx="11"/>
          </p:nvPr>
        </p:nvSpPr>
        <p:spPr/>
        <p:txBody>
          <a:bodyPr/>
          <a:lstStyle/>
          <a:p>
            <a:endParaRPr lang="es-CR"/>
          </a:p>
        </p:txBody>
      </p:sp>
      <p:sp>
        <p:nvSpPr>
          <p:cNvPr id="6" name="Slide Number Placeholder 5">
            <a:extLst>
              <a:ext uri="{FF2B5EF4-FFF2-40B4-BE49-F238E27FC236}">
                <a16:creationId xmlns:a16="http://schemas.microsoft.com/office/drawing/2014/main" id="{BE35C019-351B-4749-A3B7-C782B87CD5FE}"/>
              </a:ext>
            </a:extLst>
          </p:cNvPr>
          <p:cNvSpPr>
            <a:spLocks noGrp="1"/>
          </p:cNvSpPr>
          <p:nvPr>
            <p:ph type="sldNum" sz="quarter" idx="12"/>
          </p:nvPr>
        </p:nvSpPr>
        <p:spPr/>
        <p:txBody>
          <a:bodyPr/>
          <a:lstStyle/>
          <a:p>
            <a:fld id="{04BBC805-1B94-4851-8725-6A725939D901}" type="slidenum">
              <a:rPr lang="es-CR" smtClean="0"/>
              <a:t>‹#›</a:t>
            </a:fld>
            <a:endParaRPr lang="es-CR"/>
          </a:p>
        </p:txBody>
      </p:sp>
    </p:spTree>
    <p:extLst>
      <p:ext uri="{BB962C8B-B14F-4D97-AF65-F5344CB8AC3E}">
        <p14:creationId xmlns:p14="http://schemas.microsoft.com/office/powerpoint/2010/main" val="334415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235DAA-FF01-4B29-BAED-58CD8A37B5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CR"/>
          </a:p>
        </p:txBody>
      </p:sp>
      <p:sp>
        <p:nvSpPr>
          <p:cNvPr id="3" name="Vertical Text Placeholder 2">
            <a:extLst>
              <a:ext uri="{FF2B5EF4-FFF2-40B4-BE49-F238E27FC236}">
                <a16:creationId xmlns:a16="http://schemas.microsoft.com/office/drawing/2014/main" id="{B594220D-64AD-4321-8EB3-8102BCC872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4" name="Date Placeholder 3">
            <a:extLst>
              <a:ext uri="{FF2B5EF4-FFF2-40B4-BE49-F238E27FC236}">
                <a16:creationId xmlns:a16="http://schemas.microsoft.com/office/drawing/2014/main" id="{4634D791-701F-43AC-B278-FD8250C2E485}"/>
              </a:ext>
            </a:extLst>
          </p:cNvPr>
          <p:cNvSpPr>
            <a:spLocks noGrp="1"/>
          </p:cNvSpPr>
          <p:nvPr>
            <p:ph type="dt" sz="half" idx="10"/>
          </p:nvPr>
        </p:nvSpPr>
        <p:spPr/>
        <p:txBody>
          <a:bodyPr/>
          <a:lstStyle/>
          <a:p>
            <a:fld id="{C56CC08D-1DE1-42B7-AFFB-FAA5F9C82512}" type="datetimeFigureOut">
              <a:rPr lang="es-CR" smtClean="0"/>
              <a:t>4/3/2026</a:t>
            </a:fld>
            <a:endParaRPr lang="es-CR"/>
          </a:p>
        </p:txBody>
      </p:sp>
      <p:sp>
        <p:nvSpPr>
          <p:cNvPr id="5" name="Footer Placeholder 4">
            <a:extLst>
              <a:ext uri="{FF2B5EF4-FFF2-40B4-BE49-F238E27FC236}">
                <a16:creationId xmlns:a16="http://schemas.microsoft.com/office/drawing/2014/main" id="{B10A0D3A-A64A-4DBA-B88A-F0C8E307B549}"/>
              </a:ext>
            </a:extLst>
          </p:cNvPr>
          <p:cNvSpPr>
            <a:spLocks noGrp="1"/>
          </p:cNvSpPr>
          <p:nvPr>
            <p:ph type="ftr" sz="quarter" idx="11"/>
          </p:nvPr>
        </p:nvSpPr>
        <p:spPr/>
        <p:txBody>
          <a:bodyPr/>
          <a:lstStyle/>
          <a:p>
            <a:endParaRPr lang="es-CR"/>
          </a:p>
        </p:txBody>
      </p:sp>
      <p:sp>
        <p:nvSpPr>
          <p:cNvPr id="6" name="Slide Number Placeholder 5">
            <a:extLst>
              <a:ext uri="{FF2B5EF4-FFF2-40B4-BE49-F238E27FC236}">
                <a16:creationId xmlns:a16="http://schemas.microsoft.com/office/drawing/2014/main" id="{F7C7CA36-B56C-4707-BD9C-4E746559A041}"/>
              </a:ext>
            </a:extLst>
          </p:cNvPr>
          <p:cNvSpPr>
            <a:spLocks noGrp="1"/>
          </p:cNvSpPr>
          <p:nvPr>
            <p:ph type="sldNum" sz="quarter" idx="12"/>
          </p:nvPr>
        </p:nvSpPr>
        <p:spPr/>
        <p:txBody>
          <a:bodyPr/>
          <a:lstStyle/>
          <a:p>
            <a:fld id="{04BBC805-1B94-4851-8725-6A725939D901}" type="slidenum">
              <a:rPr lang="es-CR" smtClean="0"/>
              <a:t>‹#›</a:t>
            </a:fld>
            <a:endParaRPr lang="es-CR"/>
          </a:p>
        </p:txBody>
      </p:sp>
    </p:spTree>
    <p:extLst>
      <p:ext uri="{BB962C8B-B14F-4D97-AF65-F5344CB8AC3E}">
        <p14:creationId xmlns:p14="http://schemas.microsoft.com/office/powerpoint/2010/main" val="2714637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425696-42AC-4599-98FF-E4A4DE5BD3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CR"/>
          </a:p>
        </p:txBody>
      </p:sp>
      <p:sp>
        <p:nvSpPr>
          <p:cNvPr id="3" name="Text Placeholder 2">
            <a:extLst>
              <a:ext uri="{FF2B5EF4-FFF2-40B4-BE49-F238E27FC236}">
                <a16:creationId xmlns:a16="http://schemas.microsoft.com/office/drawing/2014/main" id="{355637F3-FA3C-4766-808B-51087D7F3F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R"/>
          </a:p>
        </p:txBody>
      </p:sp>
      <p:sp>
        <p:nvSpPr>
          <p:cNvPr id="4" name="Date Placeholder 3">
            <a:extLst>
              <a:ext uri="{FF2B5EF4-FFF2-40B4-BE49-F238E27FC236}">
                <a16:creationId xmlns:a16="http://schemas.microsoft.com/office/drawing/2014/main" id="{FA9DE19D-81E3-4F9B-BF26-EFF28552E9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6CC08D-1DE1-42B7-AFFB-FAA5F9C82512}" type="datetimeFigureOut">
              <a:rPr lang="es-CR" smtClean="0"/>
              <a:t>4/3/2026</a:t>
            </a:fld>
            <a:endParaRPr lang="es-CR"/>
          </a:p>
        </p:txBody>
      </p:sp>
      <p:sp>
        <p:nvSpPr>
          <p:cNvPr id="5" name="Footer Placeholder 4">
            <a:extLst>
              <a:ext uri="{FF2B5EF4-FFF2-40B4-BE49-F238E27FC236}">
                <a16:creationId xmlns:a16="http://schemas.microsoft.com/office/drawing/2014/main" id="{E38CEE63-03D0-4F9E-938A-BF27325A47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R"/>
          </a:p>
        </p:txBody>
      </p:sp>
      <p:sp>
        <p:nvSpPr>
          <p:cNvPr id="6" name="Slide Number Placeholder 5">
            <a:extLst>
              <a:ext uri="{FF2B5EF4-FFF2-40B4-BE49-F238E27FC236}">
                <a16:creationId xmlns:a16="http://schemas.microsoft.com/office/drawing/2014/main" id="{3DF593D6-23B8-4BE7-A74A-ACB10E66E6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BBC805-1B94-4851-8725-6A725939D901}" type="slidenum">
              <a:rPr lang="es-CR" smtClean="0"/>
              <a:t>‹#›</a:t>
            </a:fld>
            <a:endParaRPr lang="es-CR"/>
          </a:p>
        </p:txBody>
      </p:sp>
    </p:spTree>
    <p:extLst>
      <p:ext uri="{BB962C8B-B14F-4D97-AF65-F5344CB8AC3E}">
        <p14:creationId xmlns:p14="http://schemas.microsoft.com/office/powerpoint/2010/main" val="17708693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1/relationships/webextension" Target="../webextensions/webextension1.xml"/><Relationship Id="rId1" Type="http://schemas.openxmlformats.org/officeDocument/2006/relationships/slideLayout" Target="../slideLayouts/slideLayout7.xml"/><Relationship Id="rId5" Type="http://schemas.openxmlformats.org/officeDocument/2006/relationships/image" Target="../media/image5.png"/><Relationship Id="rId4" Type="http://schemas.microsoft.com/office/2011/relationships/webextension" Target="../webextensions/webextension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1/relationships/webextension" Target="../webextensions/webextension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microsoft.com/office/2011/relationships/webextension" Target="../webextensions/webextension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microsoft.com/office/2011/relationships/webextension" Target="../webextensions/webextension5.xml"/><Relationship Id="rId1" Type="http://schemas.openxmlformats.org/officeDocument/2006/relationships/slideLayout" Target="../slideLayouts/slideLayout7.xml"/><Relationship Id="rId6" Type="http://schemas.openxmlformats.org/officeDocument/2006/relationships/image" Target="../media/image10.png"/><Relationship Id="rId5" Type="http://schemas.microsoft.com/office/2011/relationships/webextension" Target="../webextensions/webextension6.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microsoft.com/office/2011/relationships/webextension" Target="../webextensions/webextension7.xml"/><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comments" Target="../comments/commen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microsoft.com/office/2011/relationships/webextension" Target="../webextensions/webextension8.xml"/><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6.png"/><Relationship Id="rId2" Type="http://schemas.microsoft.com/office/2011/relationships/webextension" Target="../webextensions/webextension9.xml"/><Relationship Id="rId1" Type="http://schemas.openxmlformats.org/officeDocument/2006/relationships/slideLayout" Target="../slideLayouts/slideLayout7.xml"/><Relationship Id="rId6" Type="http://schemas.microsoft.com/office/2011/relationships/webextension" Target="../webextensions/webextension11.xml"/><Relationship Id="rId5" Type="http://schemas.openxmlformats.org/officeDocument/2006/relationships/image" Target="../media/image15.png"/><Relationship Id="rId4" Type="http://schemas.microsoft.com/office/2011/relationships/webextension" Target="../webextensions/webextension10.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9.png"/><Relationship Id="rId2" Type="http://schemas.microsoft.com/office/2011/relationships/webextension" Target="../webextensions/webextension12.xml"/><Relationship Id="rId1" Type="http://schemas.openxmlformats.org/officeDocument/2006/relationships/slideLayout" Target="../slideLayouts/slideLayout7.xml"/><Relationship Id="rId6" Type="http://schemas.microsoft.com/office/2011/relationships/webextension" Target="../webextensions/webextension14.xml"/><Relationship Id="rId5" Type="http://schemas.openxmlformats.org/officeDocument/2006/relationships/image" Target="../media/image18.png"/><Relationship Id="rId4" Type="http://schemas.microsoft.com/office/2011/relationships/webextension" Target="../webextensions/webextension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58E1F-EAEA-4576-B4B8-32E1E035F463}"/>
              </a:ext>
            </a:extLst>
          </p:cNvPr>
          <p:cNvSpPr>
            <a:spLocks noGrp="1"/>
          </p:cNvSpPr>
          <p:nvPr>
            <p:ph type="ctrTitle"/>
          </p:nvPr>
        </p:nvSpPr>
        <p:spPr>
          <a:xfrm>
            <a:off x="685136" y="1345930"/>
            <a:ext cx="10821725" cy="1991263"/>
          </a:xfrm>
        </p:spPr>
        <p:txBody>
          <a:bodyPr>
            <a:normAutofit fontScale="90000"/>
          </a:bodyPr>
          <a:lstStyle/>
          <a:p>
            <a:r>
              <a:rPr lang="es-CR" sz="5400" dirty="0">
                <a:solidFill>
                  <a:srgbClr val="DADFE5"/>
                </a:solidFill>
                <a:latin typeface="Segoe UI Semibold" panose="020B0702040204020203" pitchFamily="34" charset="0"/>
                <a:cs typeface="Segoe UI Semibold" panose="020B0702040204020203" pitchFamily="34" charset="0"/>
              </a:rPr>
              <a:t>Red de Hospitales y Atención Médica</a:t>
            </a:r>
            <a:br>
              <a:rPr lang="es-CR" dirty="0">
                <a:solidFill>
                  <a:srgbClr val="DADFE5"/>
                </a:solidFill>
                <a:latin typeface="Segoe UI Semibold" panose="020B0702040204020203" pitchFamily="34" charset="0"/>
                <a:cs typeface="Segoe UI Semibold" panose="020B0702040204020203" pitchFamily="34" charset="0"/>
              </a:rPr>
            </a:br>
            <a:r>
              <a:rPr lang="es-CR" dirty="0" err="1">
                <a:solidFill>
                  <a:srgbClr val="3B82F6"/>
                </a:solidFill>
                <a:latin typeface="Segoe UI Semibold" panose="020B0702040204020203" pitchFamily="34" charset="0"/>
                <a:cs typeface="Segoe UI Semibold" panose="020B0702040204020203" pitchFamily="34" charset="0"/>
              </a:rPr>
              <a:t>Med</a:t>
            </a:r>
            <a:r>
              <a:rPr lang="es-CR" dirty="0" err="1">
                <a:solidFill>
                  <a:srgbClr val="EF4444"/>
                </a:solidFill>
                <a:latin typeface="Segoe UI Semibold" panose="020B0702040204020203" pitchFamily="34" charset="0"/>
                <a:cs typeface="Segoe UI Semibold" panose="020B0702040204020203" pitchFamily="34" charset="0"/>
              </a:rPr>
              <a:t>Red</a:t>
            </a:r>
            <a:endParaRPr lang="es-CR" dirty="0">
              <a:solidFill>
                <a:srgbClr val="EF4444"/>
              </a:solidFill>
              <a:latin typeface="Segoe UI Semibold" panose="020B0702040204020203" pitchFamily="34" charset="0"/>
              <a:cs typeface="Segoe UI Semibold" panose="020B0702040204020203" pitchFamily="34" charset="0"/>
            </a:endParaRPr>
          </a:p>
        </p:txBody>
      </p:sp>
      <p:sp>
        <p:nvSpPr>
          <p:cNvPr id="3" name="Subtitle 2">
            <a:extLst>
              <a:ext uri="{FF2B5EF4-FFF2-40B4-BE49-F238E27FC236}">
                <a16:creationId xmlns:a16="http://schemas.microsoft.com/office/drawing/2014/main" id="{7599C8FE-37DF-4260-B1D0-256C1016B0A0}"/>
              </a:ext>
            </a:extLst>
          </p:cNvPr>
          <p:cNvSpPr>
            <a:spLocks noGrp="1"/>
          </p:cNvSpPr>
          <p:nvPr>
            <p:ph type="subTitle" idx="1"/>
          </p:nvPr>
        </p:nvSpPr>
        <p:spPr>
          <a:xfrm>
            <a:off x="1523999" y="4516438"/>
            <a:ext cx="9144000" cy="1655762"/>
          </a:xfrm>
        </p:spPr>
        <p:txBody>
          <a:bodyPr/>
          <a:lstStyle/>
          <a:p>
            <a:r>
              <a:rPr lang="es-CR" i="1" dirty="0">
                <a:solidFill>
                  <a:srgbClr val="DADFE5"/>
                </a:solidFill>
                <a:latin typeface="Segoe UI Semibold" panose="020B0702040204020203" pitchFamily="34" charset="0"/>
                <a:cs typeface="Segoe UI Semibold" panose="020B0702040204020203" pitchFamily="34" charset="0"/>
              </a:rPr>
              <a:t>Primer Bimestre 01/2024</a:t>
            </a:r>
          </a:p>
        </p:txBody>
      </p:sp>
    </p:spTree>
    <p:extLst>
      <p:ext uri="{BB962C8B-B14F-4D97-AF65-F5344CB8AC3E}">
        <p14:creationId xmlns:p14="http://schemas.microsoft.com/office/powerpoint/2010/main" val="1326935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EAF9F-6ECD-4747-8FD1-2290B55890C9}"/>
              </a:ext>
            </a:extLst>
          </p:cNvPr>
          <p:cNvSpPr txBox="1">
            <a:spLocks/>
          </p:cNvSpPr>
          <p:nvPr/>
        </p:nvSpPr>
        <p:spPr>
          <a:xfrm>
            <a:off x="225203" y="361661"/>
            <a:ext cx="7601024" cy="882678"/>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R" sz="4000" dirty="0">
                <a:solidFill>
                  <a:srgbClr val="DADFE5"/>
                </a:solidFill>
                <a:latin typeface="Segoe UI Semibold" panose="020B0702040204020203" pitchFamily="34" charset="0"/>
                <a:cs typeface="Segoe UI Semibold" panose="020B0702040204020203" pitchFamily="34" charset="0"/>
              </a:rPr>
              <a:t>Diagnostico Inicial de Eficiencia </a:t>
            </a:r>
            <a:endParaRPr lang="es-CR" sz="3200" dirty="0">
              <a:solidFill>
                <a:srgbClr val="EF4444"/>
              </a:solidFill>
              <a:latin typeface="Segoe UI Semibold" panose="020B0702040204020203" pitchFamily="34" charset="0"/>
              <a:cs typeface="Segoe UI Semibold" panose="020B0702040204020203" pitchFamily="34" charset="0"/>
            </a:endParaRPr>
          </a:p>
        </p:txBody>
      </p:sp>
      <p:pic>
        <p:nvPicPr>
          <p:cNvPr id="4" name="Picture 3">
            <a:extLst>
              <a:ext uri="{FF2B5EF4-FFF2-40B4-BE49-F238E27FC236}">
                <a16:creationId xmlns:a16="http://schemas.microsoft.com/office/drawing/2014/main" id="{1A5C69F3-C246-4844-8728-2CF630CB96D8}"/>
              </a:ext>
            </a:extLst>
          </p:cNvPr>
          <p:cNvPicPr>
            <a:picLocks noChangeAspect="1"/>
          </p:cNvPicPr>
          <p:nvPr/>
        </p:nvPicPr>
        <p:blipFill>
          <a:blip r:embed="rId2"/>
          <a:stretch>
            <a:fillRect/>
          </a:stretch>
        </p:blipFill>
        <p:spPr>
          <a:xfrm>
            <a:off x="8166286" y="669810"/>
            <a:ext cx="3277854" cy="1814080"/>
          </a:xfrm>
          <a:prstGeom prst="rect">
            <a:avLst/>
          </a:prstGeom>
        </p:spPr>
      </p:pic>
      <p:pic>
        <p:nvPicPr>
          <p:cNvPr id="6" name="Picture 5">
            <a:extLst>
              <a:ext uri="{FF2B5EF4-FFF2-40B4-BE49-F238E27FC236}">
                <a16:creationId xmlns:a16="http://schemas.microsoft.com/office/drawing/2014/main" id="{3F560C9E-12BB-4681-A301-DAE9694912E8}"/>
              </a:ext>
            </a:extLst>
          </p:cNvPr>
          <p:cNvPicPr>
            <a:picLocks noChangeAspect="1"/>
          </p:cNvPicPr>
          <p:nvPr/>
        </p:nvPicPr>
        <p:blipFill>
          <a:blip r:embed="rId3"/>
          <a:stretch>
            <a:fillRect/>
          </a:stretch>
        </p:blipFill>
        <p:spPr>
          <a:xfrm>
            <a:off x="8132147" y="2553710"/>
            <a:ext cx="3346131" cy="1890220"/>
          </a:xfrm>
          <a:prstGeom prst="rect">
            <a:avLst/>
          </a:prstGeom>
        </p:spPr>
      </p:pic>
      <p:pic>
        <p:nvPicPr>
          <p:cNvPr id="8" name="Picture 7">
            <a:extLst>
              <a:ext uri="{FF2B5EF4-FFF2-40B4-BE49-F238E27FC236}">
                <a16:creationId xmlns:a16="http://schemas.microsoft.com/office/drawing/2014/main" id="{44A4D327-199A-4BA2-9733-68114BD2D872}"/>
              </a:ext>
            </a:extLst>
          </p:cNvPr>
          <p:cNvPicPr>
            <a:picLocks noChangeAspect="1"/>
          </p:cNvPicPr>
          <p:nvPr/>
        </p:nvPicPr>
        <p:blipFill>
          <a:blip r:embed="rId4"/>
          <a:stretch>
            <a:fillRect/>
          </a:stretch>
        </p:blipFill>
        <p:spPr>
          <a:xfrm>
            <a:off x="8176740" y="4513750"/>
            <a:ext cx="3301538" cy="1826884"/>
          </a:xfrm>
          <a:prstGeom prst="rect">
            <a:avLst/>
          </a:prstGeom>
        </p:spPr>
      </p:pic>
      <p:sp>
        <p:nvSpPr>
          <p:cNvPr id="9" name="Subtitle 2">
            <a:extLst>
              <a:ext uri="{FF2B5EF4-FFF2-40B4-BE49-F238E27FC236}">
                <a16:creationId xmlns:a16="http://schemas.microsoft.com/office/drawing/2014/main" id="{B93C2FB5-6998-4EC7-B2B5-CF00D3CC6CD2}"/>
              </a:ext>
            </a:extLst>
          </p:cNvPr>
          <p:cNvSpPr txBox="1">
            <a:spLocks/>
          </p:cNvSpPr>
          <p:nvPr/>
        </p:nvSpPr>
        <p:spPr>
          <a:xfrm>
            <a:off x="496602" y="1725828"/>
            <a:ext cx="6498087" cy="29215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R" dirty="0">
                <a:solidFill>
                  <a:srgbClr val="DADFE5"/>
                </a:solidFill>
              </a:rPr>
              <a:t>Somos una organización de atención medica con un alto volumen de atención con un total de 3,437 mil consultas con un total de 874,673,000 millones de pesos colombianos donde nuestra especialidad de mas alto rendimiento (Ingresos/ % de Alta) es Urología.  </a:t>
            </a:r>
            <a:endParaRPr lang="es-CR" i="1" dirty="0">
              <a:solidFill>
                <a:srgbClr val="DADFE5"/>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3293894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EAF9F-6ECD-4747-8FD1-2290B55890C9}"/>
              </a:ext>
            </a:extLst>
          </p:cNvPr>
          <p:cNvSpPr txBox="1">
            <a:spLocks/>
          </p:cNvSpPr>
          <p:nvPr/>
        </p:nvSpPr>
        <p:spPr>
          <a:xfrm>
            <a:off x="225203" y="248540"/>
            <a:ext cx="7806434" cy="882678"/>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R" sz="3200" dirty="0">
                <a:solidFill>
                  <a:srgbClr val="DADFE5"/>
                </a:solidFill>
                <a:latin typeface="Segoe UI Semibold" panose="020B0702040204020203" pitchFamily="34" charset="0"/>
                <a:cs typeface="Segoe UI Semibold" panose="020B0702040204020203" pitchFamily="34" charset="0"/>
              </a:rPr>
              <a:t>Problemas Operativos afectando Eficiencia </a:t>
            </a:r>
            <a:endParaRPr lang="es-CR" sz="2800" dirty="0">
              <a:solidFill>
                <a:srgbClr val="EF4444"/>
              </a:solidFill>
              <a:latin typeface="Segoe UI Semibold" panose="020B0702040204020203" pitchFamily="34" charset="0"/>
              <a:cs typeface="Segoe UI Semibold" panose="020B0702040204020203" pitchFamily="34" charset="0"/>
            </a:endParaRPr>
          </a:p>
        </p:txBody>
      </p:sp>
      <p:sp>
        <p:nvSpPr>
          <p:cNvPr id="3" name="Rectangle: Rounded Corners 2">
            <a:extLst>
              <a:ext uri="{FF2B5EF4-FFF2-40B4-BE49-F238E27FC236}">
                <a16:creationId xmlns:a16="http://schemas.microsoft.com/office/drawing/2014/main" id="{BDC27D60-DE52-447F-92B2-13160CF954C3}"/>
              </a:ext>
            </a:extLst>
          </p:cNvPr>
          <p:cNvSpPr/>
          <p:nvPr/>
        </p:nvSpPr>
        <p:spPr>
          <a:xfrm>
            <a:off x="700997" y="1084869"/>
            <a:ext cx="4865271" cy="1859436"/>
          </a:xfrm>
          <a:prstGeom prst="roundRect">
            <a:avLst/>
          </a:prstGeom>
          <a:solidFill>
            <a:srgbClr val="1E293B"/>
          </a:solidFill>
          <a:ln>
            <a:solidFill>
              <a:srgbClr val="93C5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solidFill>
                  <a:srgbClr val="DADFE5"/>
                </a:solidFill>
                <a:latin typeface="Segoe UI Semibold" panose="020B0702040204020203" pitchFamily="34" charset="0"/>
                <a:cs typeface="Segoe UI Semibold" panose="020B0702040204020203" pitchFamily="34" charset="0"/>
              </a:rPr>
              <a:t>1. Porcentaje de Alta Medica baja en centros donde la especialidad con mayor dotación médica no coincide con la demanda del hospital. </a:t>
            </a:r>
          </a:p>
        </p:txBody>
      </p:sp>
      <p:sp>
        <p:nvSpPr>
          <p:cNvPr id="11" name="Rectangle: Rounded Corners 10">
            <a:extLst>
              <a:ext uri="{FF2B5EF4-FFF2-40B4-BE49-F238E27FC236}">
                <a16:creationId xmlns:a16="http://schemas.microsoft.com/office/drawing/2014/main" id="{9826C009-0504-4AF1-BBDF-41A5CA839A57}"/>
              </a:ext>
            </a:extLst>
          </p:cNvPr>
          <p:cNvSpPr/>
          <p:nvPr/>
        </p:nvSpPr>
        <p:spPr>
          <a:xfrm>
            <a:off x="6419134" y="1084869"/>
            <a:ext cx="4865271" cy="1859436"/>
          </a:xfrm>
          <a:prstGeom prst="roundRect">
            <a:avLst/>
          </a:prstGeom>
          <a:solidFill>
            <a:srgbClr val="1E293B"/>
          </a:solidFill>
          <a:ln>
            <a:solidFill>
              <a:srgbClr val="93C5F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solidFill>
                  <a:srgbClr val="DADFE5"/>
                </a:solidFill>
                <a:latin typeface="Segoe UI Semibold" panose="020B0702040204020203" pitchFamily="34" charset="0"/>
                <a:cs typeface="Segoe UI Semibold" panose="020B0702040204020203" pitchFamily="34" charset="0"/>
              </a:rPr>
              <a:t>2. La Duración Promedio excede críticamente en especialidades con bajos ingresos.  </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Add-in 4" title="Microsoft Power BI">
                <a:extLst>
                  <a:ext uri="{FF2B5EF4-FFF2-40B4-BE49-F238E27FC236}">
                    <a16:creationId xmlns:a16="http://schemas.microsoft.com/office/drawing/2014/main" id="{B39D86EB-65E3-4BD1-AE88-376FBAA23DD0}"/>
                  </a:ext>
                </a:extLst>
              </p:cNvPr>
              <p:cNvGraphicFramePr>
                <a:graphicFrameLocks noGrp="1"/>
              </p:cNvGraphicFramePr>
              <p:nvPr>
                <p:extLst>
                  <p:ext uri="{D42A27DB-BD31-4B8C-83A1-F6EECF244321}">
                    <p14:modId xmlns:p14="http://schemas.microsoft.com/office/powerpoint/2010/main" val="2906399797"/>
                  </p:ext>
                </p:extLst>
              </p:nvPr>
            </p:nvGraphicFramePr>
            <p:xfrm>
              <a:off x="700996" y="3570401"/>
              <a:ext cx="4865272" cy="2856321"/>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5" name="Add-in 4" title="Microsoft Power BI">
                <a:extLst>
                  <a:ext uri="{FF2B5EF4-FFF2-40B4-BE49-F238E27FC236}">
                    <a16:creationId xmlns:a16="http://schemas.microsoft.com/office/drawing/2014/main" id="{B39D86EB-65E3-4BD1-AE88-376FBAA23DD0}"/>
                  </a:ext>
                </a:extLst>
              </p:cNvPr>
              <p:cNvPicPr>
                <a:picLocks noGrp="1" noRot="1" noChangeAspect="1" noMove="1" noResize="1" noEditPoints="1" noAdjustHandles="1" noChangeArrowheads="1" noChangeShapeType="1"/>
              </p:cNvPicPr>
              <p:nvPr/>
            </p:nvPicPr>
            <p:blipFill>
              <a:blip r:embed="rId3"/>
              <a:stretch>
                <a:fillRect/>
              </a:stretch>
            </p:blipFill>
            <p:spPr>
              <a:xfrm>
                <a:off x="700996" y="3570401"/>
                <a:ext cx="4865272" cy="2856321"/>
              </a:xfrm>
              <a:prstGeom prst="rect">
                <a:avLst/>
              </a:prstGeom>
            </p:spPr>
          </p:pic>
        </mc:Fallback>
      </mc:AlternateContent>
      <p:sp>
        <p:nvSpPr>
          <p:cNvPr id="7" name="TextBox 6">
            <a:extLst>
              <a:ext uri="{FF2B5EF4-FFF2-40B4-BE49-F238E27FC236}">
                <a16:creationId xmlns:a16="http://schemas.microsoft.com/office/drawing/2014/main" id="{77FFA221-FB5E-4B17-A42B-9FB3862D866B}"/>
              </a:ext>
            </a:extLst>
          </p:cNvPr>
          <p:cNvSpPr txBox="1"/>
          <p:nvPr/>
        </p:nvSpPr>
        <p:spPr>
          <a:xfrm>
            <a:off x="2102177" y="4714767"/>
            <a:ext cx="3044859" cy="954107"/>
          </a:xfrm>
          <a:prstGeom prst="rect">
            <a:avLst/>
          </a:prstGeom>
          <a:noFill/>
        </p:spPr>
        <p:txBody>
          <a:bodyPr wrap="square" rtlCol="0">
            <a:spAutoFit/>
          </a:bodyPr>
          <a:lstStyle/>
          <a:p>
            <a:r>
              <a:rPr lang="es-CR" sz="1400" dirty="0">
                <a:solidFill>
                  <a:srgbClr val="DADFE5"/>
                </a:solidFill>
                <a:latin typeface="Segoe UI Semibold" panose="020B0702040204020203" pitchFamily="34" charset="0"/>
                <a:cs typeface="Segoe UI Semibold" panose="020B0702040204020203" pitchFamily="34" charset="0"/>
              </a:rPr>
              <a:t>el bajo % de alta sugiere que el equipo médico actual tiene una especialización desalineada con el perfil de paciente</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13" name="Add-in 12" title="Microsoft Power BI">
                <a:extLst>
                  <a:ext uri="{FF2B5EF4-FFF2-40B4-BE49-F238E27FC236}">
                    <a16:creationId xmlns:a16="http://schemas.microsoft.com/office/drawing/2014/main" id="{1AF87685-AD6B-40FC-AC63-AAA5D230EDDE}"/>
                  </a:ext>
                </a:extLst>
              </p:cNvPr>
              <p:cNvGraphicFramePr>
                <a:graphicFrameLocks noGrp="1"/>
              </p:cNvGraphicFramePr>
              <p:nvPr>
                <p:extLst>
                  <p:ext uri="{D42A27DB-BD31-4B8C-83A1-F6EECF244321}">
                    <p14:modId xmlns:p14="http://schemas.microsoft.com/office/powerpoint/2010/main" val="1424351453"/>
                  </p:ext>
                </p:extLst>
              </p:nvPr>
            </p:nvGraphicFramePr>
            <p:xfrm>
              <a:off x="6419134" y="3570401"/>
              <a:ext cx="4865271" cy="2797443"/>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p:pic>
            <p:nvPicPr>
              <p:cNvPr id="13" name="Add-in 12" title="Microsoft Power BI">
                <a:extLst>
                  <a:ext uri="{FF2B5EF4-FFF2-40B4-BE49-F238E27FC236}">
                    <a16:creationId xmlns:a16="http://schemas.microsoft.com/office/drawing/2014/main" id="{1AF87685-AD6B-40FC-AC63-AAA5D230EDDE}"/>
                  </a:ext>
                </a:extLst>
              </p:cNvPr>
              <p:cNvPicPr>
                <a:picLocks noGrp="1" noRot="1" noChangeAspect="1" noMove="1" noResize="1" noEditPoints="1" noAdjustHandles="1" noChangeArrowheads="1" noChangeShapeType="1"/>
              </p:cNvPicPr>
              <p:nvPr/>
            </p:nvPicPr>
            <p:blipFill>
              <a:blip r:embed="rId5"/>
              <a:stretch>
                <a:fillRect/>
              </a:stretch>
            </p:blipFill>
            <p:spPr>
              <a:xfrm>
                <a:off x="6419134" y="3570401"/>
                <a:ext cx="4865271" cy="2797443"/>
              </a:xfrm>
              <a:prstGeom prst="rect">
                <a:avLst/>
              </a:prstGeom>
            </p:spPr>
          </p:pic>
        </mc:Fallback>
      </mc:AlternateContent>
    </p:spTree>
    <p:extLst>
      <p:ext uri="{BB962C8B-B14F-4D97-AF65-F5344CB8AC3E}">
        <p14:creationId xmlns:p14="http://schemas.microsoft.com/office/powerpoint/2010/main" val="3621096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EAF9F-6ECD-4747-8FD1-2290B55890C9}"/>
              </a:ext>
            </a:extLst>
          </p:cNvPr>
          <p:cNvSpPr txBox="1">
            <a:spLocks/>
          </p:cNvSpPr>
          <p:nvPr/>
        </p:nvSpPr>
        <p:spPr>
          <a:xfrm>
            <a:off x="238811" y="304937"/>
            <a:ext cx="7601024" cy="882678"/>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R" sz="4000" dirty="0">
                <a:solidFill>
                  <a:srgbClr val="DADFE5"/>
                </a:solidFill>
                <a:latin typeface="Segoe UI Semibold" panose="020B0702040204020203" pitchFamily="34" charset="0"/>
                <a:cs typeface="Segoe UI Semibold" panose="020B0702040204020203" pitchFamily="34" charset="0"/>
              </a:rPr>
              <a:t>% Alta Medica  </a:t>
            </a:r>
            <a:endParaRPr lang="es-CR" sz="3200" dirty="0">
              <a:solidFill>
                <a:srgbClr val="EF4444"/>
              </a:solidFill>
              <a:latin typeface="Segoe UI Semibold" panose="020B0702040204020203" pitchFamily="34" charset="0"/>
              <a:cs typeface="Segoe UI Semibold" panose="020B0702040204020203" pitchFamily="34" charset="0"/>
            </a:endParaRPr>
          </a:p>
        </p:txBody>
      </p:sp>
      <p:sp>
        <p:nvSpPr>
          <p:cNvPr id="9" name="Subtitle 2">
            <a:extLst>
              <a:ext uri="{FF2B5EF4-FFF2-40B4-BE49-F238E27FC236}">
                <a16:creationId xmlns:a16="http://schemas.microsoft.com/office/drawing/2014/main" id="{B93C2FB5-6998-4EC7-B2B5-CF00D3CC6CD2}"/>
              </a:ext>
            </a:extLst>
          </p:cNvPr>
          <p:cNvSpPr txBox="1">
            <a:spLocks/>
          </p:cNvSpPr>
          <p:nvPr/>
        </p:nvSpPr>
        <p:spPr>
          <a:xfrm>
            <a:off x="452611" y="1308583"/>
            <a:ext cx="4537311" cy="212041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R" dirty="0">
                <a:solidFill>
                  <a:srgbClr val="DADFE5"/>
                </a:solidFill>
                <a:latin typeface="Segoe UI Semibold" panose="020B0702040204020203" pitchFamily="34" charset="0"/>
                <a:cs typeface="Segoe UI Semibold" panose="020B0702040204020203" pitchFamily="34" charset="0"/>
              </a:rPr>
              <a:t>Observamos el porcentaje de clientes que resultaron de Alta en su respectivo centro medico. </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Add-in 6" title="Microsoft Power BI">
                <a:extLst>
                  <a:ext uri="{FF2B5EF4-FFF2-40B4-BE49-F238E27FC236}">
                    <a16:creationId xmlns:a16="http://schemas.microsoft.com/office/drawing/2014/main" id="{3A83DD90-ED92-4D21-B955-ADB2BEC0EBB0}"/>
                  </a:ext>
                </a:extLst>
              </p:cNvPr>
              <p:cNvGraphicFramePr>
                <a:graphicFrameLocks noGrp="1"/>
              </p:cNvGraphicFramePr>
              <p:nvPr>
                <p:extLst>
                  <p:ext uri="{D42A27DB-BD31-4B8C-83A1-F6EECF244321}">
                    <p14:modId xmlns:p14="http://schemas.microsoft.com/office/powerpoint/2010/main" val="1524478494"/>
                  </p:ext>
                </p:extLst>
              </p:nvPr>
            </p:nvGraphicFramePr>
            <p:xfrm>
              <a:off x="675587" y="4254481"/>
              <a:ext cx="11277601" cy="2432116"/>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7" name="Add-in 6" title="Microsoft Power BI">
                <a:extLst>
                  <a:ext uri="{FF2B5EF4-FFF2-40B4-BE49-F238E27FC236}">
                    <a16:creationId xmlns:a16="http://schemas.microsoft.com/office/drawing/2014/main" id="{3A83DD90-ED92-4D21-B955-ADB2BEC0EBB0}"/>
                  </a:ext>
                </a:extLst>
              </p:cNvPr>
              <p:cNvPicPr>
                <a:picLocks noGrp="1" noRot="1" noChangeAspect="1" noMove="1" noResize="1" noEditPoints="1" noAdjustHandles="1" noChangeArrowheads="1" noChangeShapeType="1"/>
              </p:cNvPicPr>
              <p:nvPr/>
            </p:nvPicPr>
            <p:blipFill>
              <a:blip r:embed="rId3"/>
              <a:stretch>
                <a:fillRect/>
              </a:stretch>
            </p:blipFill>
            <p:spPr>
              <a:xfrm>
                <a:off x="675587" y="4254481"/>
                <a:ext cx="11277601" cy="2432116"/>
              </a:xfrm>
              <a:prstGeom prst="rect">
                <a:avLst/>
              </a:prstGeom>
            </p:spPr>
          </p:pic>
        </mc:Fallback>
      </mc:AlternateContent>
      <mc:AlternateContent xmlns:mc="http://schemas.openxmlformats.org/markup-compatibility/2006">
        <mc:Choice xmlns:we="http://schemas.microsoft.com/office/webextensions/webextension/2010/11" xmlns:pca="http://schemas.microsoft.com/office/powerpoint/2013/contentapp" Requires="we pca">
          <p:graphicFrame>
            <p:nvGraphicFramePr>
              <p:cNvPr id="10" name="Add-in 9" title="Microsoft Power BI">
                <a:extLst>
                  <a:ext uri="{FF2B5EF4-FFF2-40B4-BE49-F238E27FC236}">
                    <a16:creationId xmlns:a16="http://schemas.microsoft.com/office/drawing/2014/main" id="{F73EC048-760E-48C3-8FFD-E460E11D1B80}"/>
                  </a:ext>
                </a:extLst>
              </p:cNvPr>
              <p:cNvGraphicFramePr>
                <a:graphicFrameLocks noGrp="1"/>
              </p:cNvGraphicFramePr>
              <p:nvPr>
                <p:extLst>
                  <p:ext uri="{D42A27DB-BD31-4B8C-83A1-F6EECF244321}">
                    <p14:modId xmlns:p14="http://schemas.microsoft.com/office/powerpoint/2010/main" val="435348921"/>
                  </p:ext>
                </p:extLst>
              </p:nvPr>
            </p:nvGraphicFramePr>
            <p:xfrm>
              <a:off x="7202079" y="345518"/>
              <a:ext cx="4751110" cy="3667027"/>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p:pic>
            <p:nvPicPr>
              <p:cNvPr id="10" name="Add-in 9" title="Microsoft Power BI">
                <a:extLst>
                  <a:ext uri="{FF2B5EF4-FFF2-40B4-BE49-F238E27FC236}">
                    <a16:creationId xmlns:a16="http://schemas.microsoft.com/office/drawing/2014/main" id="{F73EC048-760E-48C3-8FFD-E460E11D1B80}"/>
                  </a:ext>
                </a:extLst>
              </p:cNvPr>
              <p:cNvPicPr>
                <a:picLocks noGrp="1" noRot="1" noChangeAspect="1" noMove="1" noResize="1" noEditPoints="1" noAdjustHandles="1" noChangeArrowheads="1" noChangeShapeType="1"/>
              </p:cNvPicPr>
              <p:nvPr/>
            </p:nvPicPr>
            <p:blipFill>
              <a:blip r:embed="rId5"/>
              <a:stretch>
                <a:fillRect/>
              </a:stretch>
            </p:blipFill>
            <p:spPr>
              <a:xfrm>
                <a:off x="7202079" y="345518"/>
                <a:ext cx="4751110" cy="3667027"/>
              </a:xfrm>
              <a:prstGeom prst="rect">
                <a:avLst/>
              </a:prstGeom>
            </p:spPr>
          </p:pic>
        </mc:Fallback>
      </mc:AlternateContent>
      <p:pic>
        <p:nvPicPr>
          <p:cNvPr id="13" name="Picture 12">
            <a:extLst>
              <a:ext uri="{FF2B5EF4-FFF2-40B4-BE49-F238E27FC236}">
                <a16:creationId xmlns:a16="http://schemas.microsoft.com/office/drawing/2014/main" id="{1403134E-375A-4E6B-8E54-52D9EEBDD77C}"/>
              </a:ext>
            </a:extLst>
          </p:cNvPr>
          <p:cNvPicPr>
            <a:picLocks noChangeAspect="1"/>
          </p:cNvPicPr>
          <p:nvPr/>
        </p:nvPicPr>
        <p:blipFill>
          <a:blip r:embed="rId6"/>
          <a:stretch>
            <a:fillRect/>
          </a:stretch>
        </p:blipFill>
        <p:spPr>
          <a:xfrm>
            <a:off x="8834046" y="1813107"/>
            <a:ext cx="1196460" cy="684996"/>
          </a:xfrm>
          <a:prstGeom prst="rect">
            <a:avLst/>
          </a:prstGeom>
        </p:spPr>
      </p:pic>
    </p:spTree>
    <p:extLst>
      <p:ext uri="{BB962C8B-B14F-4D97-AF65-F5344CB8AC3E}">
        <p14:creationId xmlns:p14="http://schemas.microsoft.com/office/powerpoint/2010/main" val="2596208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EAF9F-6ECD-4747-8FD1-2290B55890C9}"/>
              </a:ext>
            </a:extLst>
          </p:cNvPr>
          <p:cNvSpPr txBox="1">
            <a:spLocks/>
          </p:cNvSpPr>
          <p:nvPr/>
        </p:nvSpPr>
        <p:spPr>
          <a:xfrm>
            <a:off x="238811" y="304937"/>
            <a:ext cx="7601024" cy="882678"/>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R" sz="4000" dirty="0">
                <a:solidFill>
                  <a:srgbClr val="DADFE5"/>
                </a:solidFill>
                <a:latin typeface="Segoe UI Semibold" panose="020B0702040204020203" pitchFamily="34" charset="0"/>
                <a:cs typeface="Segoe UI Semibold" panose="020B0702040204020203" pitchFamily="34" charset="0"/>
              </a:rPr>
              <a:t>Análisis de % Alta Medica</a:t>
            </a:r>
            <a:endParaRPr lang="es-CR" sz="3200" dirty="0">
              <a:solidFill>
                <a:srgbClr val="EF4444"/>
              </a:solidFill>
              <a:latin typeface="Segoe UI Semibold" panose="020B0702040204020203" pitchFamily="34" charset="0"/>
              <a:cs typeface="Segoe UI Semibold" panose="020B0702040204020203" pitchFamily="34" charset="0"/>
            </a:endParaRPr>
          </a:p>
        </p:txBody>
      </p:sp>
      <p:sp>
        <p:nvSpPr>
          <p:cNvPr id="9" name="Subtitle 2">
            <a:extLst>
              <a:ext uri="{FF2B5EF4-FFF2-40B4-BE49-F238E27FC236}">
                <a16:creationId xmlns:a16="http://schemas.microsoft.com/office/drawing/2014/main" id="{B93C2FB5-6998-4EC7-B2B5-CF00D3CC6CD2}"/>
              </a:ext>
            </a:extLst>
          </p:cNvPr>
          <p:cNvSpPr txBox="1">
            <a:spLocks/>
          </p:cNvSpPr>
          <p:nvPr/>
        </p:nvSpPr>
        <p:spPr>
          <a:xfrm>
            <a:off x="172824" y="1737813"/>
            <a:ext cx="3223968" cy="43236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R" sz="2400" dirty="0">
                <a:solidFill>
                  <a:srgbClr val="DADFE5"/>
                </a:solidFill>
                <a:latin typeface="Segoe UI Semibold" panose="020B0702040204020203" pitchFamily="34" charset="0"/>
                <a:cs typeface="Segoe UI Semibold" panose="020B0702040204020203" pitchFamily="34" charset="0"/>
              </a:rPr>
              <a:t>Cirugía General y Medicina Interna muestran el porcentaje de Alta Medica significativamente por debajo del promedio en el Hospital Simón Bolívar y la Clínica Medellín.  </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Add-in 2" title="Microsoft Power BI">
                <a:extLst>
                  <a:ext uri="{FF2B5EF4-FFF2-40B4-BE49-F238E27FC236}">
                    <a16:creationId xmlns:a16="http://schemas.microsoft.com/office/drawing/2014/main" id="{E3B9F012-E6F9-4B06-B1C7-D4F3BE21415F}"/>
                  </a:ext>
                </a:extLst>
              </p:cNvPr>
              <p:cNvGraphicFramePr>
                <a:graphicFrameLocks noGrp="1"/>
              </p:cNvGraphicFramePr>
              <p:nvPr>
                <p:extLst>
                  <p:ext uri="{D42A27DB-BD31-4B8C-83A1-F6EECF244321}">
                    <p14:modId xmlns:p14="http://schemas.microsoft.com/office/powerpoint/2010/main" val="3317389172"/>
                  </p:ext>
                </p:extLst>
              </p:nvPr>
            </p:nvGraphicFramePr>
            <p:xfrm>
              <a:off x="3223968" y="2792382"/>
              <a:ext cx="8795208" cy="4022275"/>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3" name="Add-in 2" title="Microsoft Power BI">
                <a:extLst>
                  <a:ext uri="{FF2B5EF4-FFF2-40B4-BE49-F238E27FC236}">
                    <a16:creationId xmlns:a16="http://schemas.microsoft.com/office/drawing/2014/main" id="{E3B9F012-E6F9-4B06-B1C7-D4F3BE21415F}"/>
                  </a:ext>
                </a:extLst>
              </p:cNvPr>
              <p:cNvPicPr>
                <a:picLocks noGrp="1" noRot="1" noChangeAspect="1" noMove="1" noResize="1" noEditPoints="1" noAdjustHandles="1" noChangeArrowheads="1" noChangeShapeType="1"/>
              </p:cNvPicPr>
              <p:nvPr/>
            </p:nvPicPr>
            <p:blipFill>
              <a:blip r:embed="rId3"/>
              <a:stretch>
                <a:fillRect/>
              </a:stretch>
            </p:blipFill>
            <p:spPr>
              <a:xfrm>
                <a:off x="3223968" y="2792382"/>
                <a:ext cx="8795208" cy="4022275"/>
              </a:xfrm>
              <a:prstGeom prst="rect">
                <a:avLst/>
              </a:prstGeom>
            </p:spPr>
          </p:pic>
        </mc:Fallback>
      </mc:AlternateContent>
      <p:pic>
        <p:nvPicPr>
          <p:cNvPr id="8" name="Picture 7">
            <a:extLst>
              <a:ext uri="{FF2B5EF4-FFF2-40B4-BE49-F238E27FC236}">
                <a16:creationId xmlns:a16="http://schemas.microsoft.com/office/drawing/2014/main" id="{09357831-373E-4A0D-B9CE-2DC622058D28}"/>
              </a:ext>
            </a:extLst>
          </p:cNvPr>
          <p:cNvPicPr>
            <a:picLocks noChangeAspect="1"/>
          </p:cNvPicPr>
          <p:nvPr/>
        </p:nvPicPr>
        <p:blipFill>
          <a:blip r:embed="rId4"/>
          <a:stretch>
            <a:fillRect/>
          </a:stretch>
        </p:blipFill>
        <p:spPr>
          <a:xfrm>
            <a:off x="3305543" y="1128521"/>
            <a:ext cx="2441543" cy="1370452"/>
          </a:xfrm>
          <a:prstGeom prst="rect">
            <a:avLst/>
          </a:prstGeom>
        </p:spPr>
      </p:pic>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Add-in 3" title="Microsoft Power BI">
                <a:extLst>
                  <a:ext uri="{FF2B5EF4-FFF2-40B4-BE49-F238E27FC236}">
                    <a16:creationId xmlns:a16="http://schemas.microsoft.com/office/drawing/2014/main" id="{273DE233-1AF6-4B63-8777-C02E8E644011}"/>
                  </a:ext>
                </a:extLst>
              </p:cNvPr>
              <p:cNvGraphicFramePr>
                <a:graphicFrameLocks noGrp="1"/>
              </p:cNvGraphicFramePr>
              <p:nvPr>
                <p:extLst>
                  <p:ext uri="{D42A27DB-BD31-4B8C-83A1-F6EECF244321}">
                    <p14:modId xmlns:p14="http://schemas.microsoft.com/office/powerpoint/2010/main" val="1484763883"/>
                  </p:ext>
                </p:extLst>
              </p:nvPr>
            </p:nvGraphicFramePr>
            <p:xfrm>
              <a:off x="6240544" y="304937"/>
              <a:ext cx="5712645" cy="2227540"/>
            </p:xfrm>
            <a:graphic>
              <a:graphicData uri="http://schemas.microsoft.com/office/webextensions/webextension/2010/11">
                <we:webextensionref xmlns:we="http://schemas.microsoft.com/office/webextensions/webextension/2010/11" xmlns:r="http://schemas.openxmlformats.org/officeDocument/2006/relationships" r:id="rId5"/>
              </a:graphicData>
            </a:graphic>
          </p:graphicFrame>
        </mc:Choice>
        <mc:Fallback>
          <p:pic>
            <p:nvPicPr>
              <p:cNvPr id="4" name="Add-in 3" title="Microsoft Power BI">
                <a:extLst>
                  <a:ext uri="{FF2B5EF4-FFF2-40B4-BE49-F238E27FC236}">
                    <a16:creationId xmlns:a16="http://schemas.microsoft.com/office/drawing/2014/main" id="{273DE233-1AF6-4B63-8777-C02E8E644011}"/>
                  </a:ext>
                </a:extLst>
              </p:cNvPr>
              <p:cNvPicPr>
                <a:picLocks noGrp="1" noRot="1" noChangeAspect="1" noMove="1" noResize="1" noEditPoints="1" noAdjustHandles="1" noChangeArrowheads="1" noChangeShapeType="1"/>
              </p:cNvPicPr>
              <p:nvPr/>
            </p:nvPicPr>
            <p:blipFill>
              <a:blip r:embed="rId6"/>
              <a:stretch>
                <a:fillRect/>
              </a:stretch>
            </p:blipFill>
            <p:spPr>
              <a:xfrm>
                <a:off x="6240544" y="304937"/>
                <a:ext cx="5712645" cy="2227540"/>
              </a:xfrm>
              <a:prstGeom prst="rect">
                <a:avLst/>
              </a:prstGeom>
            </p:spPr>
          </p:pic>
        </mc:Fallback>
      </mc:AlternateContent>
    </p:spTree>
    <p:extLst>
      <p:ext uri="{BB962C8B-B14F-4D97-AF65-F5344CB8AC3E}">
        <p14:creationId xmlns:p14="http://schemas.microsoft.com/office/powerpoint/2010/main" val="1882076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EAF9F-6ECD-4747-8FD1-2290B55890C9}"/>
              </a:ext>
            </a:extLst>
          </p:cNvPr>
          <p:cNvSpPr txBox="1">
            <a:spLocks/>
          </p:cNvSpPr>
          <p:nvPr/>
        </p:nvSpPr>
        <p:spPr>
          <a:xfrm>
            <a:off x="238811" y="304937"/>
            <a:ext cx="7601024" cy="882678"/>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R" sz="4000" dirty="0">
                <a:solidFill>
                  <a:srgbClr val="DADFE5"/>
                </a:solidFill>
                <a:latin typeface="Segoe UI Semibold" panose="020B0702040204020203" pitchFamily="34" charset="0"/>
                <a:cs typeface="Segoe UI Semibold" panose="020B0702040204020203" pitchFamily="34" charset="0"/>
              </a:rPr>
              <a:t>Duración Promedio por Consulta</a:t>
            </a:r>
            <a:endParaRPr lang="es-CR" sz="3200" dirty="0">
              <a:solidFill>
                <a:srgbClr val="EF4444"/>
              </a:solidFill>
              <a:latin typeface="Segoe UI Semibold" panose="020B0702040204020203" pitchFamily="34" charset="0"/>
              <a:cs typeface="Segoe UI Semibold" panose="020B0702040204020203" pitchFamily="34" charset="0"/>
            </a:endParaRPr>
          </a:p>
        </p:txBody>
      </p:sp>
      <p:sp>
        <p:nvSpPr>
          <p:cNvPr id="9" name="Subtitle 2">
            <a:extLst>
              <a:ext uri="{FF2B5EF4-FFF2-40B4-BE49-F238E27FC236}">
                <a16:creationId xmlns:a16="http://schemas.microsoft.com/office/drawing/2014/main" id="{B93C2FB5-6998-4EC7-B2B5-CF00D3CC6CD2}"/>
              </a:ext>
            </a:extLst>
          </p:cNvPr>
          <p:cNvSpPr txBox="1">
            <a:spLocks/>
          </p:cNvSpPr>
          <p:nvPr/>
        </p:nvSpPr>
        <p:spPr>
          <a:xfrm>
            <a:off x="452611" y="1308584"/>
            <a:ext cx="4537311" cy="18022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R" dirty="0">
                <a:solidFill>
                  <a:srgbClr val="DADFE5"/>
                </a:solidFill>
              </a:rPr>
              <a:t>Nuestra duración promedio es de </a:t>
            </a:r>
            <a:r>
              <a:rPr lang="es-CR" b="1" dirty="0">
                <a:solidFill>
                  <a:srgbClr val="DADFE5"/>
                </a:solidFill>
              </a:rPr>
              <a:t>64.47 minutos</a:t>
            </a:r>
            <a:r>
              <a:rPr lang="es-CR" dirty="0">
                <a:solidFill>
                  <a:srgbClr val="DADFE5"/>
                </a:solidFill>
              </a:rPr>
              <a:t>, pero la realidad es mucho más compleja</a:t>
            </a:r>
            <a:r>
              <a:rPr lang="es-CR" dirty="0">
                <a:solidFill>
                  <a:srgbClr val="DADFE5"/>
                </a:solidFill>
                <a:latin typeface="Segoe UI Semibold" panose="020B0702040204020203" pitchFamily="34" charset="0"/>
                <a:cs typeface="Segoe UI Semibold" panose="020B0702040204020203" pitchFamily="34" charset="0"/>
              </a:rPr>
              <a:t>. </a:t>
            </a:r>
          </a:p>
        </p:txBody>
      </p:sp>
      <p:pic>
        <p:nvPicPr>
          <p:cNvPr id="4" name="Picture 3">
            <a:extLst>
              <a:ext uri="{FF2B5EF4-FFF2-40B4-BE49-F238E27FC236}">
                <a16:creationId xmlns:a16="http://schemas.microsoft.com/office/drawing/2014/main" id="{08A626BF-80E6-4F1A-B427-3E543BC08180}"/>
              </a:ext>
            </a:extLst>
          </p:cNvPr>
          <p:cNvPicPr>
            <a:picLocks noChangeAspect="1"/>
          </p:cNvPicPr>
          <p:nvPr/>
        </p:nvPicPr>
        <p:blipFill>
          <a:blip r:embed="rId2"/>
          <a:stretch>
            <a:fillRect/>
          </a:stretch>
        </p:blipFill>
        <p:spPr>
          <a:xfrm>
            <a:off x="9005870" y="262144"/>
            <a:ext cx="2947319" cy="1733023"/>
          </a:xfrm>
          <a:prstGeom prst="rect">
            <a:avLst/>
          </a:prstGeom>
        </p:spPr>
      </p:pic>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Add-in 4" title="Microsoft Power BI">
                <a:extLst>
                  <a:ext uri="{FF2B5EF4-FFF2-40B4-BE49-F238E27FC236}">
                    <a16:creationId xmlns:a16="http://schemas.microsoft.com/office/drawing/2014/main" id="{109A727A-4D74-47B3-B56B-8924BB0BE254}"/>
                  </a:ext>
                </a:extLst>
              </p:cNvPr>
              <p:cNvGraphicFramePr>
                <a:graphicFrameLocks noGrp="1"/>
              </p:cNvGraphicFramePr>
              <p:nvPr>
                <p:extLst>
                  <p:ext uri="{D42A27DB-BD31-4B8C-83A1-F6EECF244321}">
                    <p14:modId xmlns:p14="http://schemas.microsoft.com/office/powerpoint/2010/main" val="545720577"/>
                  </p:ext>
                </p:extLst>
              </p:nvPr>
            </p:nvGraphicFramePr>
            <p:xfrm>
              <a:off x="2535810" y="2647550"/>
              <a:ext cx="8729219" cy="3948306"/>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5" name="Add-in 4" title="Microsoft Power BI">
                <a:extLst>
                  <a:ext uri="{FF2B5EF4-FFF2-40B4-BE49-F238E27FC236}">
                    <a16:creationId xmlns:a16="http://schemas.microsoft.com/office/drawing/2014/main" id="{109A727A-4D74-47B3-B56B-8924BB0BE254}"/>
                  </a:ext>
                </a:extLst>
              </p:cNvPr>
              <p:cNvPicPr>
                <a:picLocks noGrp="1" noRot="1" noChangeAspect="1" noMove="1" noResize="1" noEditPoints="1" noAdjustHandles="1" noChangeArrowheads="1" noChangeShapeType="1"/>
              </p:cNvPicPr>
              <p:nvPr/>
            </p:nvPicPr>
            <p:blipFill>
              <a:blip r:embed="rId4"/>
              <a:stretch>
                <a:fillRect/>
              </a:stretch>
            </p:blipFill>
            <p:spPr>
              <a:xfrm>
                <a:off x="2535810" y="2647550"/>
                <a:ext cx="8729219" cy="3948306"/>
              </a:xfrm>
              <a:prstGeom prst="rect">
                <a:avLst/>
              </a:prstGeom>
            </p:spPr>
          </p:pic>
        </mc:Fallback>
      </mc:AlternateContent>
    </p:spTree>
    <p:extLst>
      <p:ext uri="{BB962C8B-B14F-4D97-AF65-F5344CB8AC3E}">
        <p14:creationId xmlns:p14="http://schemas.microsoft.com/office/powerpoint/2010/main" val="3705003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EAF9F-6ECD-4747-8FD1-2290B55890C9}"/>
              </a:ext>
            </a:extLst>
          </p:cNvPr>
          <p:cNvSpPr txBox="1">
            <a:spLocks/>
          </p:cNvSpPr>
          <p:nvPr/>
        </p:nvSpPr>
        <p:spPr>
          <a:xfrm>
            <a:off x="163399" y="425906"/>
            <a:ext cx="8528117" cy="724164"/>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R" sz="3200" dirty="0">
                <a:solidFill>
                  <a:srgbClr val="DADFE5"/>
                </a:solidFill>
                <a:latin typeface="Segoe UI Semibold" panose="020B0702040204020203" pitchFamily="34" charset="0"/>
                <a:cs typeface="Segoe UI Semibold" panose="020B0702040204020203" pitchFamily="34" charset="0"/>
              </a:rPr>
              <a:t>Análisis de Duración Promedio con Ingresos</a:t>
            </a:r>
            <a:endParaRPr lang="es-CR" sz="2800" dirty="0">
              <a:solidFill>
                <a:srgbClr val="EF4444"/>
              </a:solidFill>
              <a:latin typeface="Segoe UI Semibold" panose="020B0702040204020203" pitchFamily="34" charset="0"/>
              <a:cs typeface="Segoe UI Semibold" panose="020B0702040204020203" pitchFamily="34" charset="0"/>
            </a:endParaRPr>
          </a:p>
        </p:txBody>
      </p:sp>
      <p:pic>
        <p:nvPicPr>
          <p:cNvPr id="4" name="Picture 3">
            <a:extLst>
              <a:ext uri="{FF2B5EF4-FFF2-40B4-BE49-F238E27FC236}">
                <a16:creationId xmlns:a16="http://schemas.microsoft.com/office/drawing/2014/main" id="{08A626BF-80E6-4F1A-B427-3E543BC08180}"/>
              </a:ext>
            </a:extLst>
          </p:cNvPr>
          <p:cNvPicPr>
            <a:picLocks noChangeAspect="1"/>
          </p:cNvPicPr>
          <p:nvPr/>
        </p:nvPicPr>
        <p:blipFill>
          <a:blip r:embed="rId2"/>
          <a:stretch>
            <a:fillRect/>
          </a:stretch>
        </p:blipFill>
        <p:spPr>
          <a:xfrm>
            <a:off x="9081282" y="106974"/>
            <a:ext cx="2947319" cy="1733023"/>
          </a:xfrm>
          <a:prstGeom prst="rect">
            <a:avLst/>
          </a:prstGeom>
        </p:spPr>
      </p:pic>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Add-in 2" title="Microsoft Power BI">
                <a:extLst>
                  <a:ext uri="{FF2B5EF4-FFF2-40B4-BE49-F238E27FC236}">
                    <a16:creationId xmlns:a16="http://schemas.microsoft.com/office/drawing/2014/main" id="{45E9999A-0F3C-4660-8065-7461B9A95CF8}"/>
                  </a:ext>
                </a:extLst>
              </p:cNvPr>
              <p:cNvGraphicFramePr>
                <a:graphicFrameLocks noGrp="1"/>
              </p:cNvGraphicFramePr>
              <p:nvPr>
                <p:extLst>
                  <p:ext uri="{D42A27DB-BD31-4B8C-83A1-F6EECF244321}">
                    <p14:modId xmlns:p14="http://schemas.microsoft.com/office/powerpoint/2010/main" val="2084861511"/>
                  </p:ext>
                </p:extLst>
              </p:nvPr>
            </p:nvGraphicFramePr>
            <p:xfrm>
              <a:off x="367646" y="1983715"/>
              <a:ext cx="11114202" cy="4767311"/>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3" name="Add-in 2" title="Microsoft Power BI">
                <a:extLst>
                  <a:ext uri="{FF2B5EF4-FFF2-40B4-BE49-F238E27FC236}">
                    <a16:creationId xmlns:a16="http://schemas.microsoft.com/office/drawing/2014/main" id="{45E9999A-0F3C-4660-8065-7461B9A95CF8}"/>
                  </a:ext>
                </a:extLst>
              </p:cNvPr>
              <p:cNvPicPr>
                <a:picLocks noGrp="1" noRot="1" noChangeAspect="1" noMove="1" noResize="1" noEditPoints="1" noAdjustHandles="1" noChangeArrowheads="1" noChangeShapeType="1"/>
              </p:cNvPicPr>
              <p:nvPr/>
            </p:nvPicPr>
            <p:blipFill>
              <a:blip r:embed="rId4"/>
              <a:stretch>
                <a:fillRect/>
              </a:stretch>
            </p:blipFill>
            <p:spPr>
              <a:xfrm>
                <a:off x="367646" y="1983715"/>
                <a:ext cx="11114202" cy="4767311"/>
              </a:xfrm>
              <a:prstGeom prst="rect">
                <a:avLst/>
              </a:prstGeom>
            </p:spPr>
          </p:pic>
        </mc:Fallback>
      </mc:AlternateContent>
    </p:spTree>
    <p:extLst>
      <p:ext uri="{BB962C8B-B14F-4D97-AF65-F5344CB8AC3E}">
        <p14:creationId xmlns:p14="http://schemas.microsoft.com/office/powerpoint/2010/main" val="2694142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EAF9F-6ECD-4747-8FD1-2290B55890C9}"/>
              </a:ext>
            </a:extLst>
          </p:cNvPr>
          <p:cNvSpPr txBox="1">
            <a:spLocks/>
          </p:cNvSpPr>
          <p:nvPr/>
        </p:nvSpPr>
        <p:spPr>
          <a:xfrm>
            <a:off x="144546" y="246797"/>
            <a:ext cx="3145409" cy="724164"/>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R" sz="3200" dirty="0">
                <a:solidFill>
                  <a:srgbClr val="DADFE5"/>
                </a:solidFill>
                <a:latin typeface="Segoe UI Semibold" panose="020B0702040204020203" pitchFamily="34" charset="0"/>
                <a:cs typeface="Segoe UI Semibold" panose="020B0702040204020203" pitchFamily="34" charset="0"/>
              </a:rPr>
              <a:t>Casos de Éxito </a:t>
            </a:r>
            <a:endParaRPr lang="es-CR" sz="2800" dirty="0">
              <a:solidFill>
                <a:srgbClr val="EF4444"/>
              </a:solidFill>
              <a:latin typeface="Segoe UI Semibold" panose="020B0702040204020203" pitchFamily="34" charset="0"/>
              <a:cs typeface="Segoe UI Semibold" panose="020B0702040204020203" pitchFamily="34" charset="0"/>
            </a:endParaRP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Add-in 2" title="Microsoft Power BI">
                <a:extLst>
                  <a:ext uri="{FF2B5EF4-FFF2-40B4-BE49-F238E27FC236}">
                    <a16:creationId xmlns:a16="http://schemas.microsoft.com/office/drawing/2014/main" id="{A9DAEE9B-9101-4988-AA7E-35AA3E61EB06}"/>
                  </a:ext>
                </a:extLst>
              </p:cNvPr>
              <p:cNvGraphicFramePr>
                <a:graphicFrameLocks noGrp="1"/>
              </p:cNvGraphicFramePr>
              <p:nvPr>
                <p:extLst>
                  <p:ext uri="{D42A27DB-BD31-4B8C-83A1-F6EECF244321}">
                    <p14:modId xmlns:p14="http://schemas.microsoft.com/office/powerpoint/2010/main" val="1609801137"/>
                  </p:ext>
                </p:extLst>
              </p:nvPr>
            </p:nvGraphicFramePr>
            <p:xfrm>
              <a:off x="279663" y="4152801"/>
              <a:ext cx="4989922" cy="2610931"/>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3" name="Add-in 2" title="Microsoft Power BI">
                <a:extLst>
                  <a:ext uri="{FF2B5EF4-FFF2-40B4-BE49-F238E27FC236}">
                    <a16:creationId xmlns:a16="http://schemas.microsoft.com/office/drawing/2014/main" id="{A9DAEE9B-9101-4988-AA7E-35AA3E61EB06}"/>
                  </a:ext>
                </a:extLst>
              </p:cNvPr>
              <p:cNvPicPr>
                <a:picLocks noGrp="1" noRot="1" noChangeAspect="1" noMove="1" noResize="1" noEditPoints="1" noAdjustHandles="1" noChangeArrowheads="1" noChangeShapeType="1"/>
              </p:cNvPicPr>
              <p:nvPr/>
            </p:nvPicPr>
            <p:blipFill>
              <a:blip r:embed="rId3"/>
              <a:stretch>
                <a:fillRect/>
              </a:stretch>
            </p:blipFill>
            <p:spPr>
              <a:xfrm>
                <a:off x="279663" y="4152801"/>
                <a:ext cx="4989922" cy="2610931"/>
              </a:xfrm>
              <a:prstGeom prst="rect">
                <a:avLst/>
              </a:prstGeom>
            </p:spPr>
          </p:pic>
        </mc:Fallback>
      </mc:AlternateContent>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Add-in 3" title="Microsoft Power BI">
                <a:extLst>
                  <a:ext uri="{FF2B5EF4-FFF2-40B4-BE49-F238E27FC236}">
                    <a16:creationId xmlns:a16="http://schemas.microsoft.com/office/drawing/2014/main" id="{C3E81C5C-D01E-49A2-824D-4423CCFE8FE3}"/>
                  </a:ext>
                </a:extLst>
              </p:cNvPr>
              <p:cNvGraphicFramePr>
                <a:graphicFrameLocks noGrp="1"/>
              </p:cNvGraphicFramePr>
              <p:nvPr>
                <p:extLst>
                  <p:ext uri="{D42A27DB-BD31-4B8C-83A1-F6EECF244321}">
                    <p14:modId xmlns:p14="http://schemas.microsoft.com/office/powerpoint/2010/main" val="4045569720"/>
                  </p:ext>
                </p:extLst>
              </p:nvPr>
            </p:nvGraphicFramePr>
            <p:xfrm>
              <a:off x="6664748" y="4152800"/>
              <a:ext cx="5247587" cy="2610931"/>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p:pic>
            <p:nvPicPr>
              <p:cNvPr id="4" name="Add-in 3" title="Microsoft Power BI">
                <a:extLst>
                  <a:ext uri="{FF2B5EF4-FFF2-40B4-BE49-F238E27FC236}">
                    <a16:creationId xmlns:a16="http://schemas.microsoft.com/office/drawing/2014/main" id="{C3E81C5C-D01E-49A2-824D-4423CCFE8FE3}"/>
                  </a:ext>
                </a:extLst>
              </p:cNvPr>
              <p:cNvPicPr>
                <a:picLocks noGrp="1" noRot="1" noChangeAspect="1" noMove="1" noResize="1" noEditPoints="1" noAdjustHandles="1" noChangeArrowheads="1" noChangeShapeType="1"/>
              </p:cNvPicPr>
              <p:nvPr/>
            </p:nvPicPr>
            <p:blipFill>
              <a:blip r:embed="rId5"/>
              <a:stretch>
                <a:fillRect/>
              </a:stretch>
            </p:blipFill>
            <p:spPr>
              <a:xfrm>
                <a:off x="6664748" y="4152800"/>
                <a:ext cx="5247587" cy="2610931"/>
              </a:xfrm>
              <a:prstGeom prst="rect">
                <a:avLst/>
              </a:prstGeom>
            </p:spPr>
          </p:pic>
        </mc:Fallback>
      </mc:AlternateContent>
      <mc:AlternateContent xmlns:mc="http://schemas.openxmlformats.org/markup-compatibility/2006">
        <mc:Choice xmlns:we="http://schemas.microsoft.com/office/webextensions/webextension/2010/11" xmlns:pca="http://schemas.microsoft.com/office/powerpoint/2013/contentapp" Requires="we pca">
          <p:graphicFrame>
            <p:nvGraphicFramePr>
              <p:cNvPr id="9" name="Add-in 8" title="Microsoft Power BI">
                <a:extLst>
                  <a:ext uri="{FF2B5EF4-FFF2-40B4-BE49-F238E27FC236}">
                    <a16:creationId xmlns:a16="http://schemas.microsoft.com/office/drawing/2014/main" id="{D6E61B22-23CA-453D-A814-52B8674C1D7B}"/>
                  </a:ext>
                </a:extLst>
              </p:cNvPr>
              <p:cNvGraphicFramePr>
                <a:graphicFrameLocks noGrp="1"/>
              </p:cNvGraphicFramePr>
              <p:nvPr>
                <p:extLst>
                  <p:ext uri="{D42A27DB-BD31-4B8C-83A1-F6EECF244321}">
                    <p14:modId xmlns:p14="http://schemas.microsoft.com/office/powerpoint/2010/main" val="8551005"/>
                  </p:ext>
                </p:extLst>
              </p:nvPr>
            </p:nvGraphicFramePr>
            <p:xfrm>
              <a:off x="2554664" y="1637022"/>
              <a:ext cx="7082672" cy="1849717"/>
            </p:xfrm>
            <a:graphic>
              <a:graphicData uri="http://schemas.microsoft.com/office/webextensions/webextension/2010/11">
                <we:webextensionref xmlns:we="http://schemas.microsoft.com/office/webextensions/webextension/2010/11" xmlns:r="http://schemas.openxmlformats.org/officeDocument/2006/relationships" r:id="rId6"/>
              </a:graphicData>
            </a:graphic>
          </p:graphicFrame>
        </mc:Choice>
        <mc:Fallback>
          <p:pic>
            <p:nvPicPr>
              <p:cNvPr id="9" name="Add-in 8" title="Microsoft Power BI">
                <a:extLst>
                  <a:ext uri="{FF2B5EF4-FFF2-40B4-BE49-F238E27FC236}">
                    <a16:creationId xmlns:a16="http://schemas.microsoft.com/office/drawing/2014/main" id="{D6E61B22-23CA-453D-A814-52B8674C1D7B}"/>
                  </a:ext>
                </a:extLst>
              </p:cNvPr>
              <p:cNvPicPr>
                <a:picLocks noGrp="1" noRot="1" noChangeAspect="1" noMove="1" noResize="1" noEditPoints="1" noAdjustHandles="1" noChangeArrowheads="1" noChangeShapeType="1"/>
              </p:cNvPicPr>
              <p:nvPr/>
            </p:nvPicPr>
            <p:blipFill>
              <a:blip r:embed="rId7"/>
              <a:stretch>
                <a:fillRect/>
              </a:stretch>
            </p:blipFill>
            <p:spPr>
              <a:xfrm>
                <a:off x="2554664" y="1637022"/>
                <a:ext cx="7082672" cy="1849717"/>
              </a:xfrm>
              <a:prstGeom prst="rect">
                <a:avLst/>
              </a:prstGeom>
            </p:spPr>
          </p:pic>
        </mc:Fallback>
      </mc:AlternateContent>
      <p:sp>
        <p:nvSpPr>
          <p:cNvPr id="10" name="Subtitle 2">
            <a:extLst>
              <a:ext uri="{FF2B5EF4-FFF2-40B4-BE49-F238E27FC236}">
                <a16:creationId xmlns:a16="http://schemas.microsoft.com/office/drawing/2014/main" id="{41C11311-68C3-4280-A84E-0DA47FC7F872}"/>
              </a:ext>
            </a:extLst>
          </p:cNvPr>
          <p:cNvSpPr txBox="1">
            <a:spLocks/>
          </p:cNvSpPr>
          <p:nvPr/>
        </p:nvSpPr>
        <p:spPr>
          <a:xfrm>
            <a:off x="7019887" y="3670819"/>
            <a:ext cx="4537311" cy="6050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R" dirty="0">
                <a:solidFill>
                  <a:srgbClr val="DADFE5"/>
                </a:solidFill>
              </a:rPr>
              <a:t>Centro con Mayor % de Alta</a:t>
            </a:r>
            <a:endParaRPr lang="es-CR" dirty="0">
              <a:solidFill>
                <a:srgbClr val="DADFE5"/>
              </a:solidFill>
              <a:latin typeface="Segoe UI Semibold" panose="020B0702040204020203" pitchFamily="34" charset="0"/>
              <a:cs typeface="Segoe UI Semibold" panose="020B0702040204020203" pitchFamily="34" charset="0"/>
            </a:endParaRPr>
          </a:p>
        </p:txBody>
      </p:sp>
      <p:sp>
        <p:nvSpPr>
          <p:cNvPr id="11" name="Subtitle 2">
            <a:extLst>
              <a:ext uri="{FF2B5EF4-FFF2-40B4-BE49-F238E27FC236}">
                <a16:creationId xmlns:a16="http://schemas.microsoft.com/office/drawing/2014/main" id="{455C6171-9CFF-43CB-B812-B44C04AF4782}"/>
              </a:ext>
            </a:extLst>
          </p:cNvPr>
          <p:cNvSpPr txBox="1">
            <a:spLocks/>
          </p:cNvSpPr>
          <p:nvPr/>
        </p:nvSpPr>
        <p:spPr>
          <a:xfrm>
            <a:off x="505968" y="3670820"/>
            <a:ext cx="4537311" cy="6050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R" dirty="0">
                <a:solidFill>
                  <a:srgbClr val="DADFE5"/>
                </a:solidFill>
              </a:rPr>
              <a:t>Top Especialidad</a:t>
            </a:r>
            <a:endParaRPr lang="es-CR" dirty="0">
              <a:solidFill>
                <a:srgbClr val="DADFE5"/>
              </a:solidFill>
              <a:latin typeface="Segoe UI Semibold" panose="020B0702040204020203" pitchFamily="34" charset="0"/>
              <a:cs typeface="Segoe UI Semibold" panose="020B0702040204020203" pitchFamily="34" charset="0"/>
            </a:endParaRPr>
          </a:p>
        </p:txBody>
      </p:sp>
      <p:sp>
        <p:nvSpPr>
          <p:cNvPr id="12" name="Subtitle 2">
            <a:extLst>
              <a:ext uri="{FF2B5EF4-FFF2-40B4-BE49-F238E27FC236}">
                <a16:creationId xmlns:a16="http://schemas.microsoft.com/office/drawing/2014/main" id="{CE59643B-6EDB-4BC2-94FB-B05688764B98}"/>
              </a:ext>
            </a:extLst>
          </p:cNvPr>
          <p:cNvSpPr txBox="1">
            <a:spLocks/>
          </p:cNvSpPr>
          <p:nvPr/>
        </p:nvSpPr>
        <p:spPr>
          <a:xfrm>
            <a:off x="3951527" y="1015504"/>
            <a:ext cx="4537311" cy="60505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R" dirty="0">
                <a:solidFill>
                  <a:srgbClr val="DADFE5"/>
                </a:solidFill>
              </a:rPr>
              <a:t>Médicos con Mayor Ingresos</a:t>
            </a:r>
            <a:endParaRPr lang="es-CR" dirty="0">
              <a:solidFill>
                <a:srgbClr val="DADFE5"/>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2527405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EAF9F-6ECD-4747-8FD1-2290B55890C9}"/>
              </a:ext>
            </a:extLst>
          </p:cNvPr>
          <p:cNvSpPr txBox="1">
            <a:spLocks/>
          </p:cNvSpPr>
          <p:nvPr/>
        </p:nvSpPr>
        <p:spPr>
          <a:xfrm>
            <a:off x="144546" y="246797"/>
            <a:ext cx="8528117" cy="724164"/>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R" sz="3200" dirty="0">
                <a:solidFill>
                  <a:srgbClr val="DADFE5"/>
                </a:solidFill>
                <a:latin typeface="Segoe UI Semibold" panose="020B0702040204020203" pitchFamily="34" charset="0"/>
                <a:cs typeface="Segoe UI Semibold" panose="020B0702040204020203" pitchFamily="34" charset="0"/>
              </a:rPr>
              <a:t>Posible Plan de Acción </a:t>
            </a:r>
            <a:endParaRPr lang="es-CR" sz="2800" dirty="0">
              <a:solidFill>
                <a:srgbClr val="EF4444"/>
              </a:solidFill>
              <a:latin typeface="Segoe UI Semibold" panose="020B0702040204020203" pitchFamily="34" charset="0"/>
              <a:cs typeface="Segoe UI Semibold" panose="020B0702040204020203" pitchFamily="34" charset="0"/>
            </a:endParaRP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Add-in 4" title="Microsoft Power BI">
                <a:extLst>
                  <a:ext uri="{FF2B5EF4-FFF2-40B4-BE49-F238E27FC236}">
                    <a16:creationId xmlns:a16="http://schemas.microsoft.com/office/drawing/2014/main" id="{2AAA9367-64B6-4AFD-9617-9EF4A35074E2}"/>
                  </a:ext>
                </a:extLst>
              </p:cNvPr>
              <p:cNvGraphicFramePr>
                <a:graphicFrameLocks noGrp="1"/>
              </p:cNvGraphicFramePr>
              <p:nvPr>
                <p:extLst>
                  <p:ext uri="{D42A27DB-BD31-4B8C-83A1-F6EECF244321}">
                    <p14:modId xmlns:p14="http://schemas.microsoft.com/office/powerpoint/2010/main" val="1427238966"/>
                  </p:ext>
                </p:extLst>
              </p:nvPr>
            </p:nvGraphicFramePr>
            <p:xfrm>
              <a:off x="1379457" y="1012430"/>
              <a:ext cx="9144000" cy="2151374"/>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5" name="Add-in 4" title="Microsoft Power BI">
                <a:extLst>
                  <a:ext uri="{FF2B5EF4-FFF2-40B4-BE49-F238E27FC236}">
                    <a16:creationId xmlns:a16="http://schemas.microsoft.com/office/drawing/2014/main" id="{2AAA9367-64B6-4AFD-9617-9EF4A35074E2}"/>
                  </a:ext>
                </a:extLst>
              </p:cNvPr>
              <p:cNvPicPr>
                <a:picLocks noGrp="1" noRot="1" noChangeAspect="1" noMove="1" noResize="1" noEditPoints="1" noAdjustHandles="1" noChangeArrowheads="1" noChangeShapeType="1"/>
              </p:cNvPicPr>
              <p:nvPr/>
            </p:nvPicPr>
            <p:blipFill>
              <a:blip r:embed="rId3"/>
              <a:stretch>
                <a:fillRect/>
              </a:stretch>
            </p:blipFill>
            <p:spPr>
              <a:xfrm>
                <a:off x="1379457" y="1012430"/>
                <a:ext cx="9144000" cy="2151374"/>
              </a:xfrm>
              <a:prstGeom prst="rect">
                <a:avLst/>
              </a:prstGeom>
            </p:spPr>
          </p:pic>
        </mc:Fallback>
      </mc:AlternateContent>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Add-in 6" title="Microsoft Power BI">
                <a:extLst>
                  <a:ext uri="{FF2B5EF4-FFF2-40B4-BE49-F238E27FC236}">
                    <a16:creationId xmlns:a16="http://schemas.microsoft.com/office/drawing/2014/main" id="{406E6C11-AAB8-474A-8CE7-8A97E200431E}"/>
                  </a:ext>
                </a:extLst>
              </p:cNvPr>
              <p:cNvGraphicFramePr>
                <a:graphicFrameLocks noGrp="1"/>
              </p:cNvGraphicFramePr>
              <p:nvPr>
                <p:extLst>
                  <p:ext uri="{D42A27DB-BD31-4B8C-83A1-F6EECF244321}">
                    <p14:modId xmlns:p14="http://schemas.microsoft.com/office/powerpoint/2010/main" val="2592076448"/>
                  </p:ext>
                </p:extLst>
              </p:nvPr>
            </p:nvGraphicFramePr>
            <p:xfrm>
              <a:off x="144547" y="3380461"/>
              <a:ext cx="5652938" cy="3230742"/>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p:pic>
            <p:nvPicPr>
              <p:cNvPr id="7" name="Add-in 6" title="Microsoft Power BI">
                <a:extLst>
                  <a:ext uri="{FF2B5EF4-FFF2-40B4-BE49-F238E27FC236}">
                    <a16:creationId xmlns:a16="http://schemas.microsoft.com/office/drawing/2014/main" id="{406E6C11-AAB8-474A-8CE7-8A97E200431E}"/>
                  </a:ext>
                </a:extLst>
              </p:cNvPr>
              <p:cNvPicPr>
                <a:picLocks noGrp="1" noRot="1" noChangeAspect="1" noMove="1" noResize="1" noEditPoints="1" noAdjustHandles="1" noChangeArrowheads="1" noChangeShapeType="1"/>
              </p:cNvPicPr>
              <p:nvPr/>
            </p:nvPicPr>
            <p:blipFill>
              <a:blip r:embed="rId5"/>
              <a:stretch>
                <a:fillRect/>
              </a:stretch>
            </p:blipFill>
            <p:spPr>
              <a:xfrm>
                <a:off x="144547" y="3380461"/>
                <a:ext cx="5652938" cy="3230742"/>
              </a:xfrm>
              <a:prstGeom prst="rect">
                <a:avLst/>
              </a:prstGeom>
            </p:spPr>
          </p:pic>
        </mc:Fallback>
      </mc:AlternateContent>
      <mc:AlternateContent xmlns:mc="http://schemas.openxmlformats.org/markup-compatibility/2006">
        <mc:Choice xmlns:we="http://schemas.microsoft.com/office/webextensions/webextension/2010/11" xmlns:pca="http://schemas.microsoft.com/office/powerpoint/2013/contentapp" Requires="we pca">
          <p:graphicFrame>
            <p:nvGraphicFramePr>
              <p:cNvPr id="8" name="Add-in 7" title="Microsoft Power BI">
                <a:extLst>
                  <a:ext uri="{FF2B5EF4-FFF2-40B4-BE49-F238E27FC236}">
                    <a16:creationId xmlns:a16="http://schemas.microsoft.com/office/drawing/2014/main" id="{286D444D-9C3B-4A69-BD8D-8603305941D3}"/>
                  </a:ext>
                </a:extLst>
              </p:cNvPr>
              <p:cNvGraphicFramePr>
                <a:graphicFrameLocks noGrp="1"/>
              </p:cNvGraphicFramePr>
              <p:nvPr>
                <p:extLst>
                  <p:ext uri="{D42A27DB-BD31-4B8C-83A1-F6EECF244321}">
                    <p14:modId xmlns:p14="http://schemas.microsoft.com/office/powerpoint/2010/main" val="511747738"/>
                  </p:ext>
                </p:extLst>
              </p:nvPr>
            </p:nvGraphicFramePr>
            <p:xfrm>
              <a:off x="5561814" y="3357846"/>
              <a:ext cx="6485639" cy="3367136"/>
            </p:xfrm>
            <a:graphic>
              <a:graphicData uri="http://schemas.microsoft.com/office/webextensions/webextension/2010/11">
                <we:webextensionref xmlns:we="http://schemas.microsoft.com/office/webextensions/webextension/2010/11" xmlns:r="http://schemas.openxmlformats.org/officeDocument/2006/relationships" r:id="rId6"/>
              </a:graphicData>
            </a:graphic>
          </p:graphicFrame>
        </mc:Choice>
        <mc:Fallback>
          <p:pic>
            <p:nvPicPr>
              <p:cNvPr id="8" name="Add-in 7" title="Microsoft Power BI">
                <a:extLst>
                  <a:ext uri="{FF2B5EF4-FFF2-40B4-BE49-F238E27FC236}">
                    <a16:creationId xmlns:a16="http://schemas.microsoft.com/office/drawing/2014/main" id="{286D444D-9C3B-4A69-BD8D-8603305941D3}"/>
                  </a:ext>
                </a:extLst>
              </p:cNvPr>
              <p:cNvPicPr>
                <a:picLocks noGrp="1" noRot="1" noChangeAspect="1" noMove="1" noResize="1" noEditPoints="1" noAdjustHandles="1" noChangeArrowheads="1" noChangeShapeType="1"/>
              </p:cNvPicPr>
              <p:nvPr/>
            </p:nvPicPr>
            <p:blipFill>
              <a:blip r:embed="rId7"/>
              <a:stretch>
                <a:fillRect/>
              </a:stretch>
            </p:blipFill>
            <p:spPr>
              <a:xfrm>
                <a:off x="5561814" y="3357846"/>
                <a:ext cx="6485639" cy="3367136"/>
              </a:xfrm>
              <a:prstGeom prst="rect">
                <a:avLst/>
              </a:prstGeom>
            </p:spPr>
          </p:pic>
        </mc:Fallback>
      </mc:AlternateContent>
    </p:spTree>
    <p:extLst>
      <p:ext uri="{BB962C8B-B14F-4D97-AF65-F5344CB8AC3E}">
        <p14:creationId xmlns:p14="http://schemas.microsoft.com/office/powerpoint/2010/main" val="3672118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EAF9F-6ECD-4747-8FD1-2290B55890C9}"/>
              </a:ext>
            </a:extLst>
          </p:cNvPr>
          <p:cNvSpPr txBox="1">
            <a:spLocks/>
          </p:cNvSpPr>
          <p:nvPr/>
        </p:nvSpPr>
        <p:spPr>
          <a:xfrm>
            <a:off x="144546" y="246797"/>
            <a:ext cx="3145409" cy="724164"/>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R" sz="3200" dirty="0">
                <a:solidFill>
                  <a:srgbClr val="DADFE5"/>
                </a:solidFill>
                <a:latin typeface="Segoe UI Semibold" panose="020B0702040204020203" pitchFamily="34" charset="0"/>
                <a:cs typeface="Segoe UI Semibold" panose="020B0702040204020203" pitchFamily="34" charset="0"/>
              </a:rPr>
              <a:t>Conclusiones</a:t>
            </a:r>
            <a:endParaRPr lang="es-CR" sz="2800" dirty="0">
              <a:solidFill>
                <a:srgbClr val="EF4444"/>
              </a:solidFill>
              <a:latin typeface="Segoe UI Semibold" panose="020B0702040204020203" pitchFamily="34" charset="0"/>
              <a:cs typeface="Segoe UI Semibold" panose="020B0702040204020203" pitchFamily="34" charset="0"/>
            </a:endParaRPr>
          </a:p>
        </p:txBody>
      </p:sp>
      <p:sp>
        <p:nvSpPr>
          <p:cNvPr id="11" name="Subtitle 2">
            <a:extLst>
              <a:ext uri="{FF2B5EF4-FFF2-40B4-BE49-F238E27FC236}">
                <a16:creationId xmlns:a16="http://schemas.microsoft.com/office/drawing/2014/main" id="{455C6171-9CFF-43CB-B812-B44C04AF4782}"/>
              </a:ext>
            </a:extLst>
          </p:cNvPr>
          <p:cNvSpPr txBox="1">
            <a:spLocks/>
          </p:cNvSpPr>
          <p:nvPr/>
        </p:nvSpPr>
        <p:spPr>
          <a:xfrm>
            <a:off x="421126" y="970960"/>
            <a:ext cx="10834477" cy="54958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R" sz="3200" dirty="0">
                <a:solidFill>
                  <a:srgbClr val="DADFE5"/>
                </a:solidFill>
                <a:latin typeface="Segoe UI" panose="020B0502040204020203" pitchFamily="34" charset="0"/>
                <a:cs typeface="Segoe UI" panose="020B0502040204020203" pitchFamily="34" charset="0"/>
              </a:rPr>
              <a:t>Estandarización: Reducir la variabilidad de </a:t>
            </a:r>
            <a:r>
              <a:rPr lang="es-CR" sz="3200" b="1" dirty="0">
                <a:solidFill>
                  <a:srgbClr val="DADFE5"/>
                </a:solidFill>
                <a:latin typeface="Segoe UI" panose="020B0502040204020203" pitchFamily="34" charset="0"/>
                <a:cs typeface="Segoe UI" panose="020B0502040204020203" pitchFamily="34" charset="0"/>
              </a:rPr>
              <a:t>Duración Promedio</a:t>
            </a:r>
            <a:r>
              <a:rPr lang="es-CR" sz="3200" dirty="0">
                <a:solidFill>
                  <a:srgbClr val="DADFE5"/>
                </a:solidFill>
                <a:latin typeface="Segoe UI" panose="020B0502040204020203" pitchFamily="34" charset="0"/>
                <a:cs typeface="Segoe UI" panose="020B0502040204020203" pitchFamily="34" charset="0"/>
              </a:rPr>
              <a:t> en un </a:t>
            </a:r>
            <a:r>
              <a:rPr lang="es-CR" sz="3200" b="1" dirty="0">
                <a:solidFill>
                  <a:srgbClr val="DADFE5"/>
                </a:solidFill>
                <a:latin typeface="Segoe UI" panose="020B0502040204020203" pitchFamily="34" charset="0"/>
                <a:cs typeface="Segoe UI" panose="020B0502040204020203" pitchFamily="34" charset="0"/>
              </a:rPr>
              <a:t>15%</a:t>
            </a:r>
            <a:r>
              <a:rPr lang="es-CR" sz="3200" dirty="0">
                <a:solidFill>
                  <a:srgbClr val="DADFE5"/>
                </a:solidFill>
                <a:latin typeface="Segoe UI" panose="020B0502040204020203" pitchFamily="34" charset="0"/>
                <a:cs typeface="Segoe UI" panose="020B0502040204020203" pitchFamily="34" charset="0"/>
              </a:rPr>
              <a:t> para liberar tiempo de consulta al mes.</a:t>
            </a:r>
          </a:p>
          <a:p>
            <a:pPr marL="0" indent="0">
              <a:buNone/>
            </a:pPr>
            <a:endParaRPr lang="es-CR" sz="3200" dirty="0">
              <a:solidFill>
                <a:srgbClr val="DADFE5"/>
              </a:solidFill>
              <a:latin typeface="Segoe UI" panose="020B0502040204020203" pitchFamily="34" charset="0"/>
              <a:cs typeface="Segoe UI" panose="020B0502040204020203" pitchFamily="34" charset="0"/>
            </a:endParaRPr>
          </a:p>
          <a:p>
            <a:pPr marL="0" indent="0">
              <a:buNone/>
            </a:pPr>
            <a:r>
              <a:rPr lang="es-CR" sz="3200" dirty="0">
                <a:solidFill>
                  <a:srgbClr val="DADFE5"/>
                </a:solidFill>
                <a:latin typeface="Segoe UI" panose="020B0502040204020203" pitchFamily="34" charset="0"/>
                <a:cs typeface="Segoe UI" panose="020B0502040204020203" pitchFamily="34" charset="0"/>
              </a:rPr>
              <a:t>Impacto: Elevar el </a:t>
            </a:r>
            <a:r>
              <a:rPr lang="es-CR" sz="3200" b="1" dirty="0">
                <a:solidFill>
                  <a:srgbClr val="DADFE5"/>
                </a:solidFill>
                <a:latin typeface="Segoe UI" panose="020B0502040204020203" pitchFamily="34" charset="0"/>
                <a:cs typeface="Segoe UI" panose="020B0502040204020203" pitchFamily="34" charset="0"/>
              </a:rPr>
              <a:t>% de alta </a:t>
            </a:r>
            <a:r>
              <a:rPr lang="es-CR" sz="3200" dirty="0">
                <a:solidFill>
                  <a:srgbClr val="DADFE5"/>
                </a:solidFill>
                <a:latin typeface="Segoe UI" panose="020B0502040204020203" pitchFamily="34" charset="0"/>
                <a:cs typeface="Segoe UI" panose="020B0502040204020203" pitchFamily="34" charset="0"/>
              </a:rPr>
              <a:t>en la Clínica Medellín y Simón Bolívar mediante el liderazgo de los 6 médicos seleccionados.</a:t>
            </a:r>
          </a:p>
          <a:p>
            <a:pPr marL="0" indent="0">
              <a:buNone/>
            </a:pPr>
            <a:endParaRPr lang="es-CR" sz="3200" dirty="0">
              <a:solidFill>
                <a:srgbClr val="DADFE5"/>
              </a:solidFill>
              <a:latin typeface="Segoe UI" panose="020B0502040204020203" pitchFamily="34" charset="0"/>
              <a:cs typeface="Segoe UI" panose="020B0502040204020203" pitchFamily="34" charset="0"/>
            </a:endParaRPr>
          </a:p>
          <a:p>
            <a:pPr marL="0" indent="0">
              <a:buNone/>
            </a:pPr>
            <a:r>
              <a:rPr lang="es-CR" sz="3200" dirty="0">
                <a:solidFill>
                  <a:srgbClr val="DADFE5"/>
                </a:solidFill>
                <a:latin typeface="Segoe UI" panose="020B0502040204020203" pitchFamily="34" charset="0"/>
                <a:cs typeface="Segoe UI" panose="020B0502040204020203" pitchFamily="34" charset="0"/>
              </a:rPr>
              <a:t>Rentabilidad: Enfocar esfuerzos en Neumología y Oftalmología para subir su ticket promedio al nivel de Pediatría</a:t>
            </a:r>
            <a:r>
              <a:rPr lang="es-CR" sz="3200" dirty="0">
                <a:solidFill>
                  <a:srgbClr val="DADFE5"/>
                </a:solidFill>
                <a:latin typeface="Segoe UI Semibold" panose="020B0702040204020203" pitchFamily="34" charset="0"/>
                <a:cs typeface="Segoe UI Semibold" panose="020B0702040204020203" pitchFamily="34" charset="0"/>
              </a:rPr>
              <a:t>.</a:t>
            </a:r>
          </a:p>
        </p:txBody>
      </p:sp>
    </p:spTree>
    <p:extLst>
      <p:ext uri="{BB962C8B-B14F-4D97-AF65-F5344CB8AC3E}">
        <p14:creationId xmlns:p14="http://schemas.microsoft.com/office/powerpoint/2010/main" val="2189436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93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F3F89-C7F9-4D6D-A336-D3EE289C5714}"/>
              </a:ext>
            </a:extLst>
          </p:cNvPr>
          <p:cNvSpPr>
            <a:spLocks noGrp="1"/>
          </p:cNvSpPr>
          <p:nvPr>
            <p:ph type="title"/>
          </p:nvPr>
        </p:nvSpPr>
        <p:spPr>
          <a:xfrm>
            <a:off x="838200" y="2766218"/>
            <a:ext cx="10515600" cy="1325563"/>
          </a:xfrm>
        </p:spPr>
        <p:txBody>
          <a:bodyPr/>
          <a:lstStyle/>
          <a:p>
            <a:pPr algn="ctr"/>
            <a:r>
              <a:rPr lang="es-CR" dirty="0">
                <a:solidFill>
                  <a:srgbClr val="DADFE5"/>
                </a:solidFill>
              </a:rPr>
              <a:t>Gracias!</a:t>
            </a:r>
          </a:p>
        </p:txBody>
      </p:sp>
    </p:spTree>
    <p:extLst>
      <p:ext uri="{BB962C8B-B14F-4D97-AF65-F5344CB8AC3E}">
        <p14:creationId xmlns:p14="http://schemas.microsoft.com/office/powerpoint/2010/main" val="11327089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4.png"/></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5.png"/></Relationships>
</file>

<file path=ppt/webextensions/_rels/webextension3.xml.rels><?xml version="1.0" encoding="UTF-8" standalone="yes"?>
<Relationships xmlns="http://schemas.openxmlformats.org/package/2006/relationships"><Relationship Id="rId1" Type="http://schemas.openxmlformats.org/officeDocument/2006/relationships/image" Target="../media/image6.png"/></Relationships>
</file>

<file path=ppt/webextensions/_rels/webextension4.xml.rels><?xml version="1.0" encoding="UTF-8" standalone="yes"?>
<Relationships xmlns="http://schemas.openxmlformats.org/package/2006/relationships"><Relationship Id="rId1" Type="http://schemas.openxmlformats.org/officeDocument/2006/relationships/image" Target="../media/image7.png"/></Relationships>
</file>

<file path=ppt/webextensions/_rels/webextension5.xml.rels><?xml version="1.0" encoding="UTF-8" standalone="yes"?>
<Relationships xmlns="http://schemas.openxmlformats.org/package/2006/relationships"><Relationship Id="rId1" Type="http://schemas.openxmlformats.org/officeDocument/2006/relationships/image" Target="../media/image9.png"/></Relationships>
</file>

<file path=ppt/webextensions/_rels/webextension6.xml.rels><?xml version="1.0" encoding="UTF-8" standalone="yes"?>
<Relationships xmlns="http://schemas.openxmlformats.org/package/2006/relationships"><Relationship Id="rId1" Type="http://schemas.openxmlformats.org/officeDocument/2006/relationships/image" Target="../media/image10.png"/></Relationships>
</file>

<file path=ppt/webextensions/_rels/webextension7.xml.rels><?xml version="1.0" encoding="UTF-8" standalone="yes"?>
<Relationships xmlns="http://schemas.openxmlformats.org/package/2006/relationships"><Relationship Id="rId1" Type="http://schemas.openxmlformats.org/officeDocument/2006/relationships/image" Target="../media/image12.png"/></Relationships>
</file>

<file path=ppt/webextensions/_rels/webextension8.xml.rels><?xml version="1.0" encoding="UTF-8" standalone="yes"?>
<Relationships xmlns="http://schemas.openxmlformats.org/package/2006/relationships"><Relationship Id="rId1" Type="http://schemas.openxmlformats.org/officeDocument/2006/relationships/image" Target="../media/image13.png"/></Relationships>
</file>

<file path=ppt/webextensions/_rels/webextension9.xml.rels><?xml version="1.0" encoding="UTF-8" standalone="yes"?>
<Relationships xmlns="http://schemas.openxmlformats.org/package/2006/relationships"><Relationship Id="rId1" Type="http://schemas.openxmlformats.org/officeDocument/2006/relationships/image" Target="../media/image14.png"/></Relationships>
</file>

<file path=ppt/webextensions/_rels/webextension10.xml.rels><?xml version="1.0" encoding="UTF-8" standalone="yes"?>
<Relationships xmlns="http://schemas.openxmlformats.org/package/2006/relationships"><Relationship Id="rId1" Type="http://schemas.openxmlformats.org/officeDocument/2006/relationships/image" Target="../media/image15.png"/></Relationships>
</file>

<file path=ppt/webextensions/_rels/webextension11.xml.rels><?xml version="1.0" encoding="UTF-8" standalone="yes"?>
<Relationships xmlns="http://schemas.openxmlformats.org/package/2006/relationships"><Relationship Id="rId1" Type="http://schemas.openxmlformats.org/officeDocument/2006/relationships/image" Target="../media/image16.png"/></Relationships>
</file>

<file path=ppt/webextensions/_rels/webextension12.xml.rels><?xml version="1.0" encoding="UTF-8" standalone="yes"?>
<Relationships xmlns="http://schemas.openxmlformats.org/package/2006/relationships"><Relationship Id="rId1" Type="http://schemas.openxmlformats.org/officeDocument/2006/relationships/image" Target="../media/image17.png"/></Relationships>
</file>

<file path=ppt/webextensions/_rels/webextension13.xml.rels><?xml version="1.0" encoding="UTF-8" standalone="yes"?>
<Relationships xmlns="http://schemas.openxmlformats.org/package/2006/relationships"><Relationship Id="rId1" Type="http://schemas.openxmlformats.org/officeDocument/2006/relationships/image" Target="../media/image18.png"/></Relationships>
</file>

<file path=ppt/webextensions/_rels/webextension14.xml.rels><?xml version="1.0" encoding="UTF-8" standalone="yes"?>
<Relationships xmlns="http://schemas.openxmlformats.org/package/2006/relationships"><Relationship Id="rId1" Type="http://schemas.openxmlformats.org/officeDocument/2006/relationships/image" Target="../media/image19.png"/></Relationships>
</file>

<file path=ppt/webextensions/webextension1.xml><?xml version="1.0" encoding="utf-8"?>
<we:webextension xmlns:we="http://schemas.microsoft.com/office/webextensions/webextension/2010/11" id="{3281138F-830B-4EEE-A85D-BBB460EB20A0}">
  <we:reference id="ad3bb869-dfe9-409b-95f2-98016482b42b" version="2.0.0.3" store="EXCatalog" storeType="EXCatalog"/>
  <we:alternateReferences>
    <we:reference id="wa200003233" version="2.0.0.3" store="en-us" storeType="OMEX"/>
  </we:alternateReferences>
  <we:properties>
    <we:property name="reportUrl" value="&quot;/groups/me/reports/783d045f-b8df-4719-8d17-c1cdae355294/f653261f3389106303a1?ctid=8051c068-3df3-4224-b116-3152367abf11&amp;pbi_source=shareVisual&amp;visual=845f3b3c7c350ab09ae1&amp;height=197.70&amp;width=374.25&amp;bookmarkGuid=b268c546-83b0-437f-b8cc-67be32956070&amp;fromEntryPoint=sharevisual&quot;"/>
    <we:property name="artifactName" value="&quot;Card&quot;"/>
    <we:property name="reportName" value="&quot;MedRed Clinic Efficiency&quot;"/>
    <we:property name="reportState" value="&quot;CONNECTED&quot;"/>
    <we:property name="embedUrl" value="&quot;/reportEmbed?reportId=783d045f-b8df-4719-8d17-c1cdae355294&amp;config=eyJjbHVzdGVyVXJsIjoiaHR0cHM6Ly9XQUJJLVNPVVRILUNFTlRSQUwtVVMtQy1QUklNQVJZLXJlZGlyZWN0LmFuYWx5c2lzLndpbmRvd3MubmV0IiwiZW1iZWRGZWF0dXJlcyI6eyJ1c2FnZU1ldHJpY3NWTmV4dCI6dHJ1ZX19&amp;disableSensitivityBanner=true&amp;storytellingAnnotations=true&amp;storytellingChangeViewModeShortcutKeys=true&quot;"/>
    <we:property name="pageName" value="&quot;f653261f3389106303a1&quot;"/>
    <we:property name="pageDisplayName" value="&quot;Analisis Especialidad y Alta Medica&quot;"/>
    <we:property name="datasetId" value="&quot;efa1a7ad-f095-4793-921d-5e4ffa30c731&quot;"/>
    <we:property name="backgroundColor" value="&quot;#1E293B&quot;"/>
    <we:property name="bookmark" value="&quot;H4sIAAAAAAAAA+1ay27bRhT9FYFAkY1QzIPkkN7ZjoMGaB6N0nRRGMVw5lKehOKoJOVYNfRBXXTVT8iP9c6QkhVZkeTUr7TywiLnee65zyF5GWhTjws5fSlHEBwER9Z+GMnqQ48G/aBs2zIWUi40F4SolEIqWBphrx03xpZ1cHAZNLIaQvPO1BNZuIWw8dcgCaOcZ1wJxSMiM5JKoMFpP5BF8VoO3ZhcFjX0gzFUtS1lYf6AdgnsaqoJzPoBXIwLW0m30aCRDbjNznE43iMw+j1HHFI15hwGoJq2NY8jzmKac56klMSccOmEyU3R4Ey3QjY9uRhXiPFyIWJIIJY0FoQJpnmahCTEOc107HqPceehrYySxWIht867ORLWD55VduRX7Igc4ciTsjHN1N2ANsrW2PTWr0hmyMMvZ1CBn3JsS21a9DjfNu7HIYS67hqfl5+31d28YjIqr48e2Eml4A3kVzce0QwZfV1Z5NujOqnHoAzyrqXGPoT0ThYTrzxc/EeDUqLATk7XjBOeDEzZO6zNsJTVEzfjdOb+TltFLQHYCdg1djbD6wdn9uNxBagLHRxQv2vdKt0rda3anbl4k0KKG2nKzgBIEinOIsaoCiXqG4B406pNOSw6I7ya2+osaOCiyeyFs/zsPW7sVkIMnf+44SOr3cAzozWUCBl7GdGQs1ARHXP8F4WSRB7tWmtca293QO0Pth6bBldfpZW0tG6ioS6MQvNfZgG3Qf93F1o20ksybjczUF8Rc+lFcb/rbOspztD2Y+kMyxvVbO7aCPz9kqIXRnr7ZJxu1ydVlESaEioSBpFOKGcPr8+XdpRhLNlrc4mKHXSZhCwXKRVaxJIQyHgr18ZMkUYgI8FlGMc6SzhNYgkPlCnuJCkse8P2hDAf3fu5ND4vYyVg7CI33FFm2BC++gtFhQzCJGYp4ZlkVDDFU3alqEN9LkuFc1YBHlamORtBY5Q3bch9Nn4Bsp5UsCvu37rx15C/QIG07PGD3ne9w6KRvRef/kQRpR/3xgzP/G4DhRP0yXlL9ucb3gsSDwC17t32FU6RjUU75tezcP9yK6P3gviGYU/JSnddK+ncVhqqo6l3paemmleV6Lf3rgfngJsjmCBaZlRFFIvsRMQqY0xsj2B5GoeAJU9MSSo0FvU0vnKMt3b8cufQVU+y3ydQTYNVdgbzDrz+aX7xL4JgfzFQLQ9UGPQmSNpKvBxAgXq7/RK5PweRGyjwHrd6taO5HA6HFQzlPHSf3DwoLkCqVZDHHQvPn/qeZ5OyQxG1NoQqba/nJLElPh9X9rl+JHkrswK+vMLCAh/sJLKcc4gIwyQDJjghkhJIKEl2yDmPMULmk7KExx4d11aUXQ02vb2actUqt1aWax997CvLm1SWx8Wnv0qUtocmAIW7eRRVpSao2TRXBFgWaqddHu+ryn1V+S1VlT5CaREKUCGgAUc8ISQj+wj1lWffgRl9+rvsHVmMUudLT0YfMk6lUlOVxVjdc6IySCKion2c2sepbylObauyMqKFVMAgThRRImQkid3QjbJLL9LRpGkQ8I0e5WsgTESaCyaoUlrRUGx4lN/5IZVEqZxEKQHBYx5nSUj2h+3/+mE73h+27/6wnQmRaRoqkoaZojLhGfviO9uHSsMkTvI8SQiXDCIWKcXVLseFx5g0xubcNq2BPO6ksf6hgFf5Lb5nuu48b+zHh3orCTwTLI6w1mN4JKWMJzr8cmq6Lw/Z4sn/v3eTN36OlCeMcBfiaMRJrFJNou3fKXxtheN3XEe1nTT1GAut17KENZQj1bLUTqcbafcf+7RiIVzTJZoNE9wnQAsNzWb/ADx4EDiqJAAA&quot;"/>
    <we:property name="initialStateBookmark" value="&quot;H4sIAAAAAAAAA+1azXLbNhB+FQ1nOrloOvghCdI32XGmmdR2YqXpoePJgMBSRkKRKkk5Vj16oB566iPkxboAKVmRFUlO/ZdWPlgEiAW+/XaxuyB55WlTjTI5OZZD8Pa8/aL4OJTlxw71ul7e9p2cvDrqnb56f9w7OsTuYlSbIq+8vSuvluUA6nemGsvMzoCdv511PZllr+XAtlKZVdD1RlBWRS4z8wc0g/FWXY5h2vXgcpQVpbRT9mtZg532AodjG9emP3JcUaraXEAfVN30pmHAWUhTzqOYkpATLi3e1GQ1StoZksnh5ahENFczLRKfQChpKAgTTPM48omPMvVkZO8e4MqDojRKZvOJ7DzvZkhY13tRFkM3Y8vVEEce5rWpJ7YB2qiiwq63bkYyRR5+PYcSnMhBkWvToEf5orY/FiFUVdv5Mv+yr2rlsvEwvzm6X4xLBaeQXjccoiky+roskG+H6rAagTLIu5Ya7yGkdzIbOzPh5D8b1BIVtnrabhR41jd5p1eZQS7LZ1bibGr/zhpDLQDYCtgNdtbD63rnxaeDEtAW2tujbtWqMboz6kqzW3dxLoUU19LkrQOQKFCcBYxR5Uu0NwBxrlWZfJC1Tngt29jMq+GyTopL6+PJB1zYzoQY2i1ihw8LbQeeG60hR8h4lxENKfMV0SHHf4EvSeDQrvTGlf52D9T+VFQjU+Psy7SShtZ1NFSZUej+iyzgMrjT7YWWtXSajJrFDFTXxFw5VezvKt96jhK6+JRbx3JONZ1tbQT+YcHQcye9ezLONtuTKkoCTQkVEYNAR5Szx7fncTFMMJbsrLlAxRa2jHyWipgKLUJJCCS80WttpogDkIHg0g9DnUScRqGER8oU95IUFnfD5oQwG935JTcuL2PON8U8N9xTZlgTvrpzQ/kM/ChkMeGJZFQwxWN2baievpC5QpllgL3S1OdDqI1yrg2py8ZHIKtxCdvift+Ov4H8CBXSssP3Oj90elktO0ef/0QVpRt3agbnbrW+QgF9eNGQ/eWCD4LEAbDVmm2coIisC/RjfjMLd682MvogiG8Z9pQsdXtrKZ0XpYZyf+K20nNTzqpK3LcPbge7AddHMEG0TKgKqBIqEqFKGBObI1gahz5gyRNSEgtNiKLh9cZ4W4yOtw5d1Tj5fQzlxFtmpz+7gddvZhf/Igh25wPV4kCFQW+MpC3Fyz5kaLe7L5G7MxCpgQzbuNTJlu7SGwxKGMhZ6D68fVCcg1TLIA9aFl4+d3dejPMWRdD4EJq0uZ6RxBb4fFrZ5+aR5K1MMvj6DHMPfLSTyGLOIcL3owSY4IRISiCiJNoi5zzFCJmO8xyeenRcWVG2Ndjk7mrKZa/cWFlGfpDyhGNU5gGRCYkl0F1leavK8iD7/FeO2nbQBSCzjSdRVWqClo1TRYAlvrbW5eGuqtxVld9TVekilBa+AOUDOnDAI0ISsotQ33j27Zvh57/zzn6BUepi4cnoY8apWGqqkhCre05UAlFAVLCLU7s49T3FqU1VVkK0kAoYhJEiSviMRKEdulZ36VTaH9c1Ar7Vo3wNhIlAc8EEVUor6os1j/LbfUglUSolQUxA8JCHSeST3WH7v37YDneH7fs/bCdCJJr6isR+oqiMeMK++s72sdIwCaM0jSLCJYOABUpxtc1x4SkmjZG5KOrGQZ520lj9UMCZ/A7fM93cPKfFp8d6Kwk8ESwMsNZjeCSljEfa/3pqeqgdsmEn///eTd76OVIaMcJtiKMBJ6GKNQk2f6fwrRWOW3EV1cW4rkZYaL2WOaygHKmWubY2XUu7+9inUQvhmjbRrBGwnwDNLTSd/gPhFDHxjSQAAA==&quot;"/>
    <we:property name="isFooterCollapsed" value="true"/>
    <we:property name="isFiltersActionButtonVisible" value="true"/>
    <we:property name="isVisualContainerHeaderHidden" value="false"/>
    <we:property name="reportEmbeddedTime" value="&quot;2026-03-04T21:43:49.477Z&quot;"/>
    <we:property name="creatorTenantId" value="&quot;8051c068-3df3-4224-b116-3152367abf11&quot;"/>
    <we:property name="creatorUserId" value="&quot;10032003AF12A32E&quot;"/>
    <we:property name="creatorSessionId" value="&quot;153eae1f-5024-4f77-81e0-ac35ec4b4e00&quot;"/>
  </we:properties>
  <we:bindings/>
  <we:snapshot xmlns:r="http://schemas.openxmlformats.org/officeDocument/2006/relationships" r:embed="rId1"/>
</we:webextension>
</file>

<file path=ppt/webextensions/webextension2.xml><?xml version="1.0" encoding="utf-8"?>
<we:webextension xmlns:we="http://schemas.microsoft.com/office/webextensions/webextension/2010/11" id="{EB168F68-E926-4366-8CB0-B5E49B37C3A8}">
  <we:reference id="ad3bb869-dfe9-409b-95f2-98016482b42b" version="2.0.0.3" store="EXCatalog" storeType="EXCatalog"/>
  <we:alternateReferences>
    <we:reference id="wa200003233" version="2.0.0.3" store="en-us" storeType="OMEX"/>
  </we:alternateReferences>
  <we:properties>
    <we:property name="reportUrl" value="&quot;/groups/me/reports/783d045f-b8df-4719-8d17-c1cdae355294/6a93647db3e45d20b806?ctid=8051c068-3df3-4224-b116-3152367abf11&amp;pbi_source=shareVisual&amp;visual=e7d0cdd6a80b0e0e7a2b&amp;height=232.46&amp;width=597.20&amp;bookmarkGuid=07fed104-8601-444c-87c3-247a148e1ff2&amp;fromEntryPoint=sharevisual&quot;"/>
    <we:property name="artifactName" value="&quot;Card&quot;"/>
    <we:property name="reportName" value="&quot;MedRed Clinic Efficiency&quot;"/>
    <we:property name="reportState" value="&quot;CONNECTED&quot;"/>
    <we:property name="embedUrl" value="&quot;/reportEmbed?reportId=783d045f-b8df-4719-8d17-c1cdae355294&amp;config=eyJjbHVzdGVyVXJsIjoiaHR0cHM6Ly9XQUJJLVNPVVRILUNFTlRSQUwtVVMtQy1QUklNQVJZLXJlZGlyZWN0LmFuYWx5c2lzLndpbmRvd3MubmV0IiwiZW1iZWRGZWF0dXJlcyI6eyJ1c2FnZU1ldHJpY3NWTmV4dCI6dHJ1ZX19&amp;disableSensitivityBanner=true&amp;storytellingAnnotations=true&amp;storytellingChangeViewModeShortcutKeys=true&quot;"/>
    <we:property name="pageName" value="&quot;6a93647db3e45d20b806&quot;"/>
    <we:property name="pageDisplayName" value="&quot;Analisis Ingresos y Duracion&quot;"/>
    <we:property name="datasetId" value="&quot;efa1a7ad-f095-4793-921d-5e4ffa30c731&quot;"/>
    <we:property name="backgroundColor" value="&quot;#1E293B&quot;"/>
    <we:property name="bookmark" value="&quot;H4sIAAAAAAAAA+1a6W4bNxB+FWP/5I9QkMs9/U+2ldZIZCexmxQIDGOW5EpMVsvtHo5VQ4/Up+iLdbi7Oiwfkq/Ibm3DkHgNP87xDYfwhSVUkSUwPoCRtLatHa2/jyD/vkWtjpW2fYeH7/rdT+9OD7r9HnbrrFQ6LaztC6uEfCDLz6qoIDESsPPrSceCJPkAA9OKISlkx8pkXugUEvWXbCbjUJlXctKx5HmW6ByMyKMSSmnEnuF0bOPe9BeGOwIv1Zk8krxsej0Imef4ImLScYVNooB4OC1WSYkrjYRo3DvPckRzMT1F5BDpAfV8Yvu2YGHgEAfXlOPMjO7izgOdKw7JTJCR83mKxO5Yb3M9qiW2uhrhzF5aqnJsGlIorgvsOq4lkgnq4ctQ5rJesqtToRr0uF6X5sMglEXRdu6nl/uKdl1SjdKrs490lXP5ScbzRo1oghr9kGvUd42qV2SSK9S7AIFjCOkzJFVtJhT+XuEp8cDmnKYbF7w5UulWt1CDFPI3ZsXJxPycNIZaALAWsCvauR1exxrqH7u5RFsIa5vWuxaN0WujXmt24y61S6GKS1Bp6wAUIKCUBUFAXBeIwxklpv9WH7FD1+X4SwLu2aHvukSwDfnIM3GH33Od6ME/f8PMGTbhCmTSuZhaoSvOIOXYuwyjL6GocrkujtN2/hUkfQQoYItub+2nAxzXxVam8y20TlElJRT3Q9cdoKwBTM3be4AG+SUkC8j3qhw4Lj0dqbQee1ulLWXSq6Dr6FLpIGkpeR5JjXdaHHLRDiHpR98wEk3c4DKdC5nvjGuX3FP5lJfR/3ubMolx5jaVGZkjLcwRhkoIaXSB8lzHjWMSuhwc3/apDzT0VzICBcJ5TNyQSJ95zIswbcwZ4VhnB2tTQVFFf1YyH1vLWjqaDuD3j9MvDyCVzmwiX5w4d5tL/HMkE7Tf47NLZwoiVjLBNm51uKbbPDxWZiD5Msipz+zvLUWI2/gQmtTa9mqHaZRkL+jzubP5MUSJvFnCzAM3ltMXqfJyOn0IkhsJccnY/wHS/rmgbzDxb7rIVIlmuxJBzxLugR5FGJQrwa5MiDv6HFLxZaiK74bH+t2PNLBZd4+Fe8c2c7o7LrOJx3rUDrp/LOfMpoZBWN8WbrS8iYHxr7musvU54Y4xaA52e270pUc9EsSBR4AHwG0ZyZtz46MH8GrD3dFSRaI4ZuRFE+AmWKuaLwJKqM+RNVspWczVclEfxHxedx3ewxVC/0jfTCn0JsPO7tWPrYrVtgyYC7FtO8yOiMcjoD6rK59bFVbK8zLS58tOu2KnMI6ZcBiJQukxIgnzg5U7Qa2knaosUQ132o77jg8uwbJM+JRQdFnHfcLtBOXMp5EbOSLC6tENCBGbj4kV6fX/Fxl35jrpC8KF8CAgEfqs9MGOVtYBry8DywY/jPEGMHp9HXh9HXgRrwPmgGowTPCvfnwt6rK33vBrQ3x9yMxA3S44St8XjfZHGeSqmNpi2nqnUqOojvVexuXTOfqnKeC1YrA96UiW0HJ5WiXJiYnnhpXm0PqzORcLzviExIwJHPhQihr9filHzV4KiRkFqTYnvGTNd6wzM946El66rEvT6uxkJMeebQfE9gNOCJPEj/BysTIDSU4ZscH2fYHXLaCSE/flvESdLk6cR/Ize4mi96OoGZDTez5cvj46Pfn9oI0iRj2AWDgCIsd1vCCMQn8eRc/tkYLddhRgInQE9yMRepxiOeTbZI2jbPYi1GLnMqQxBSmcyGdR4HPb9X6uGX7WNSlRqdxNqgJpWYoGImaySO8OIS9fxM3phjqurXnGG6vkarq8rorVVVlkwOUHSOU11Sy6FKRCihUVbf2fC03FiAZVLcfdssD8P8Os+J1M/gVN3tsJWiEAAA==&quot;"/>
    <we:property name="initialStateBookmark" value="&quot;H4sIAAAAAAAAA+1a6W4bNxB+FWP/5I9QkMs9/U+2ldZIZCexmxQIDGOW5EpMVsvtHo5VQ4/Up+iLdbi7Oiwfkq/Ibm3DkHgNP87xDYfwhSVUkSUwPoCRtLatHa2/jyD/vkWtjpW2fYeH7/rdT+9OD7r9HnbrrFQ6LaztC6uEfCDLz6qoIDESsPPrSceCJPkAA9OKISlkx8pkXugUEvWXbCbjUJlXctKx5HmW6ByMyKMSSmnEnuF0bOPe9BeGOwIv1Zk8krxsej0Imef4ImLScYVNooB4OC1WSYkrjYRo3DvPckRzMT1F5BDpAfV8Yvu2YGHgEAfXlOPMjO7izgOdKw7JTJCR83mKxO5Yb3M9qiW2uhrhzF5aqnJsGlIorgvsOq4lkgnq4ctQ5rJesqtToRr0uF6X5sMglEXRdu6nl/uKdl1SjdKrs490lXP5ScbzRo1oghr9kGvUd42qV2SSK9S7AIFjCOkzJFVtJhT+XuEp8cDmnKYbF7w5UulWt1CDFPI3ZsXJxPycNIZaALAWsCvauR1exxrqH7u5RFsIa5vWuxaN0WujXmt24y61S6GKS1Bp6wAUIKCUBUFAXBeIwxklpv9WH7FD1+X4SwLu2aHvukSwDfnIM3GH33Od6ME/f8PMGTbhCmTSuZhaoSvOIOXYuwyjL6GocrkujtN2/hUkfQQoYItub+2nAxzXxVam8y20TlElJRT3Q9cdoKwBTM3be4AG+SUkC8j3qhw4Lj0dqbQee1ulLWXSq6Dr6FLpIGkpeR5JjXdaHHLRDiHpR98wEk3c4DKdC5nvjGuX3FP5lJfR/3ubMolx5jaVGZkjLcwRhkoIaXSB8lzHjWMSuhwc3/apDzT0VzICBcJ5TNyQSJ95zIswbcwZ4VhnB2tTQVFFf1YyH1vLWjqaDuD3j9MvDyCVzmwiX5w4d5tL/HMkE7Tf47NLZwoiVjLBNm51uKbbPDxWZiD5Msipz+zvLUWI2/gQmtTa9mqHaZRkL+jzubP5MUSJvFnCzAM3ltMXqfJyOn0IkhsJccnY/wHS/rmgbzDxb7rIVIlmuxJBzxLugR5FGJQrwa5MiDv6HFLxZaiK74bH+t2PNLBZd4+Fe8c2c7o7LrOJx3rUDrp/LOfMpoZBWN8WbrS8iYHxr7musvU54Y4xaA52e270pUc9EsSBR4AHwG0ZyZtz46MH8GrD3dFSRaI4ZuRFE+AmWKuaLwJKqM+RNVspWczVclEfxHxedx3ewxVC/0jfTCn0JsPO7tWPrYrVtgyYC7FtO8yOiMcjoD6rK59bFVbK8zLS58tOu2KnMI6ZcBiJQukxIgnzg5U7Qa2knaosUQ132o77jg8uwbJM+JRQdFnHfcLtBOXMp5EbOSLC6tENCBGbj4kV6fX/Fxl35jrpC8KF8CAgEfqs9MGOVtYBry8DywY/jPEGMHp9HXh9HXgRrwPmgGowTPCvfnwt6rK33vBrQ3x9yMxA3S44St8XjfZHGeSqmNpi2nqnUqOojvVexuXTOfqnKeC1YrA96UiW0HJ5WiXJiYnnhpXm0PqzORcLzviExIwJHPhQihr9filHzV4KiRkFqTYnvGTNd6wzM946El66rEvT6uxkJMeebQfE9gNOCJPEj/BysTIDSU4ZscH2fYHXLaCSE/flvESdLk6cR/Ize4mi96OoGZDTez5cvj46Pfn9oI0iRj2AWDgCIsd1vCCMQn8eRc/tkYLddhRgInQE9yMRepxiOeTbZI2jbPYi1GLnMqQxBSmcyGdR4HPb9X6uGX7WNSlRqdxNqgJpWYoGImaySO8OIS9fxM3phjqurXnGG6vkarq8rorVVVlkwOUHSOU11Sy6FKRCihUVbf2fC03FiAZVLcfdssD8P8Os+J1M/gVN3tsJWiEAAA==&quot;"/>
    <we:property name="isFooterCollapsed" value="true"/>
    <we:property name="isFiltersActionButtonVisible" value="true"/>
    <we:property name="isVisualContainerHeaderHidden" value="false"/>
    <we:property name="reportEmbeddedTime" value="&quot;2026-03-04T21:49:16.802Z&quot;"/>
    <we:property name="creatorTenantId" value="&quot;8051c068-3df3-4224-b116-3152367abf11&quot;"/>
    <we:property name="creatorUserId" value="&quot;10032003AF12A32E&quot;"/>
    <we:property name="creatorSessionId" value="&quot;efe1d47f-8035-4960-b99d-2c77d17708b0&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4FC426FF-11FA-4072-BA5E-56F456223181}">
  <we:reference id="ad3bb869-dfe9-409b-95f2-98016482b42b" version="2.0.0.3" store="EXCatalog" storeType="EXCatalog"/>
  <we:alternateReferences>
    <we:reference id="wa200003233" version="2.0.0.3" store="en-us" storeType="OMEX"/>
  </we:alternateReferences>
  <we:properties>
    <we:property name="reportUrl" value="&quot;/groups/me/reports/783d045f-b8df-4719-8d17-c1cdae355294/2c8ce66afd415d22b6a8?ctid=8051c068-3df3-4224-b116-3152367abf11&amp;pbi_source=shareVisual&amp;visual=79362e462ea1ea05c071&amp;height=213.67&amp;width=742.44&amp;bookmarkGuid=4da112ae-fc99-4d2e-842b-8b9932096e84&amp;fromEntryPoint=sharevisual&quot;"/>
    <we:property name="artifactName" value="&quot;Hospital Universitario lidera en Altas y Clinica Medellin tiene el porcentaje mas bajo de Alta&quot;"/>
    <we:property name="reportName" value="&quot;MedRed Clinic Efficiency&quot;"/>
    <we:property name="reportState" value="&quot;CONNECTED&quot;"/>
    <we:property name="embedUrl" value="&quot;/reportEmbed?reportId=783d045f-b8df-4719-8d17-c1cdae355294&amp;config=eyJjbHVzdGVyVXJsIjoiaHR0cHM6Ly9XQUJJLVNPVVRILUNFTlRSQUwtVVMtQy1QUklNQVJZLXJlZGlyZWN0LmFuYWx5c2lzLndpbmRvd3MubmV0IiwiZW1iZWRGZWF0dXJlcyI6eyJ1c2FnZU1ldHJpY3NWTmV4dCI6dHJ1ZX19&amp;disableSensitivityBanner=true&amp;storytellingAnnotations=true&amp;storytellingChangeViewModeShortcutKeys=true&quot;"/>
    <we:property name="pageName" value="&quot;2c8ce66afd415d22b6a8&quot;"/>
    <we:property name="pageDisplayName" value="&quot;Situacion Actual&quot;"/>
    <we:property name="datasetId" value="&quot;efa1a7ad-f095-4793-921d-5e4ffa30c731&quot;"/>
    <we:property name="backgroundColor" value="&quot;#1E293B&quot;"/>
    <we:property name="bookmark" value="&quot;H4sIAAAAAAAAA+1a204bSRD9FWukVV6sVV/myhu3aKOEy+Io+7BCqLq7bCaMZ7wzbQKL+JH9g/2O/NhWj20wYHsIGOxFQUJ4erq6qutUn6pqfOWZtBpkcLkPffQ2vK2iOOtDedbiXtvLx2MHBx/3No8+nuxv7u3ScDGwaZFX3saVZ6Hsof2SVkPI3Ao0+Odx24MsO4See+pCVmHbG2BZFTlk6d84mkyvbDnE67aHF4OsKMEt2bFg0S17TtPpmXTzXyVpBG3Tc+ygtqNRoWONYQhd4/PACKFCiGlaN80sSboV1OXuxaAka64mu1A+wxB4GDERCSOT2Gc+ydjLgXu7TZp7RZlqyG4Wcut8mVgi2t77sujXK4591aeZu7lN7aV7QJPqoqKhz/WK7Jr88McplliLbBe5SUfWk3xh3R9nIVbVePBDfnesGstlw37+cHanGJYaj7B7+1BbdE0ePSwL8ndt1W41QJ2S3w0YekcmfYFsWMNEi39KaZe0YbdPN0wC7zpp3tqs0l4O5TsncXztfo5HQE0Z8CjDHnhnsXlt77T4tl0iYWG8DV5rrUag16DOhN2FSx1S5GILaT4OAIYBmICj7yvNGYuRBdqNV2ney8ZBeCs7wsyzeGFVceFiXH0lxW4lsmF8RNz0fmHcxNPUGMzJZHortJFhl0Ux4xJ8BjJMIjd1YTRGRnWZUjqKUDEV+QkG4W00bppzyDU54b7XN8vUnvbRpvVePmG3DqQ9hGpY4mPBOBnPfwDHHqFkoCU3Wr+0NjMLrb3v/xJuUM87SnuntbaOJgGzez7y312Fr2JJbYAjGvdwQCJgC3KufBhA7atGj76KxdNWsVFYLwpDDaUZv7oXiUVpsNy6rCNpJy0nhEjk9Oo4ODJZfDCk4Ewy5kdMh4nBQOokmH8wZhLxC3DOftFX5JknwFJlqaasMA0JKaEE6D4YsFDvYzBSlWJ165areiP1kZ1BuTskYYpvuePbmmuvJxmPzP46xX833L1sVxw3kpwMlNCB4ynDNBeMKxU10mnapyLgx8hUElFDNwmC0Be+TKQQKBtjZj5d9nol9mCSd3efEU2aMBjSCXjgxJ1hCZpET/ppXr97P8zHx5Kv5OyvftOPoAbFRYihlDxgGCufYwIvEU6BD1x0meSJUXHCgcUKG/VAvZOtobW0nx9SF/paKxFxjVxAzJSMlFo94/1WVIPU0uo/Oe+OM5pZj/oFFpnQSDQBoIZEcN1Y2qHhkWTIDIU4F0HIwI9/lnY/S7u3VNpFiQwF+vQLHIFaKxbx5p4nQBF3TaQYxFJowRS8/Q58mm/WrPtekBfaN6CJmDET+Ao4Z0YgMs2S54Gmp0G7rTBWCpu+75sjrM0yxeNwWyJYc2uuaZNm4LUOtfAhFYWYW/ywc68oDJ5AlafD3JRoDpEsyG3Hgj5DswXl9imUdp2L40VecME0s84Zn6TLF6p0atLu+phEPA4Yi1kcM6lGvdWyi+7YYIJxqEUcI48VS7TExuQAShLHMN9PAq7CmMdEObc887kY7D+aYKqh+muI5Mr74HcmL+jz75MPz8gv7ZuJJ9MTb1PuHU7rYEYeXEZOmfTt7Yn6boqZ8ZySg6VWETcmnMypHvhG60NOJ6oqqtagKFvbU2fCmUO4jcJ+4gkx5bQnZ+8XSdS3lyFkAqgM58veBNhLZue591SvWPkeQX5G5LBaIx4Raqu3zt9oTWi/an3/J3eI1maOqupZObsxAVoXhbsP/huxokah6ag35ARkEkOuWaxDGYTa50E4PyesQy0z2d+DLC7e7K3eoi03Q5xEIEDrkFoEX6IErhPWCPHyLr+eVDe/4fuvR/mj+QoM/Cg0vtKgWcgg8kMWLfjv5hrnhP/f1czzGBcC6fsySkITS5b4aIxsBm7Fx3FN2ti5PPiUNtYU+dCufc+6aMsv0bMuiZ2M6ILQGJhYJMROCcdgDdhp+mstLdcCLZWNGjySiBAwYpKa71grHdPZ916gyccgprWjWBvGKTEY3xfJ8vXUqmal3mJoqwFoPIQcZ6RgwhVy41y9MA3X304b7YfsTMdN3wIB9521m4x9ff0f1BVv9T4nAAA=&quot;"/>
    <we:property name="initialStateBookmark" value="&quot;H4sIAAAAAAAAA+1a204bSRD9FWukVV6sVV/myhu3aKOEy+Io+7BCqLq7bCaMZ7wzbQKL+JH9g/2O/NhWj20wYHsIGOxFQUJ4erq6qutUn6pqfOWZtBpkcLkPffQ2vK2iOOtDedbiXtvLx2MHBx/3No8+nuxv7u3ScDGwaZFX3saVZ6Hsof2SVkPI3Ao0+Odx24MsO4See+pCVmHbG2BZFTlk6d84mkyvbDnE67aHF4OsKMEt2bFg0S17TtPpmXTzXyVpBG3Tc+ygtqNRoWONYQhd4/PACKFCiGlaN80sSboV1OXuxaAka64mu1A+wxB4GDERCSOT2Gc+ydjLgXu7TZp7RZlqyG4Wcut8mVgi2t77sujXK4591aeZu7lN7aV7QJPqoqKhz/WK7Jr88McplliLbBe5SUfWk3xh3R9nIVbVePBDfnesGstlw37+cHanGJYaj7B7+1BbdE0ePSwL8ndt1W41QJ2S3w0YekcmfYFsWMNEi39KaZe0YbdPN0wC7zpp3tqs0l4O5TsncXztfo5HQE0Z8CjDHnhnsXlt77T4tl0iYWG8DV5rrUag16DOhN2FSx1S5GILaT4OAIYBmICj7yvNGYuRBdqNV2ney8ZBeCs7wsyzeGFVceFiXH0lxW4lsmF8RNz0fmHcxNPUGMzJZHortJFhl0Ux4xJ8BjJMIjd1YTRGRnWZUjqKUDEV+QkG4W00bppzyDU54b7XN8vUnvbRpvVePmG3DqQ9hGpY4mPBOBnPfwDHHqFkoCU3Wr+0NjMLrb3v/xJuUM87SnuntbaOJgGzez7y312Fr2JJbYAjGvdwQCJgC3KufBhA7atGj76KxdNWsVFYLwpDDaUZv7oXiUVpsNy6rCNpJy0nhEjk9Oo4ODJZfDCk4Ewy5kdMh4nBQOokmH8wZhLxC3DOftFX5JknwFJlqaasMA0JKaEE6D4YsFDvYzBSlWJ165areiP1kZ1BuTskYYpvuePbmmuvJxmPzP46xX833L1sVxw3kpwMlNCB4ynDNBeMKxU10mnapyLgx8hUElFDNwmC0Be+TKQQKBtjZj5d9nol9mCSd3efEU2aMBjSCXjgxJ1hCZpET/ppXr97P8zHx5Kv5OyvftOPoAbFRYihlDxgGCufYwIvEU6BD1x0meSJUXHCgcUKG/VAvZOtobW0nx9SF/paKxFxjVxAzJSMlFo94/1WVIPU0uo/Oe+OM5pZj/oFFpnQSDQBoIZEcN1Y2qHhkWTIDIU4F0HIwI9/lnY/S7u3VNpFiQwF+vQLHIFaKxbx5p4nQBF3TaQYxFJowRS8/Q58mm/WrPtekBfaN6CJmDET+Ao4Z0YgMs2S54Gmp0G7rTBWCpu+75sjrM0yxeNwWyJYc2uuaZNm4LUOtfAhFYWYW/ywc68oDJ5AlafD3JRoDpEsyG3Hgj5DswXl9imUdp2L40VecME0s84Zn6TLF6p0atLu+phEPA4Yi1kcM6lGvdWyi+7YYIJxqEUcI48VS7TExuQAShLHMN9PAq7CmMdEObc887kY7D+aYKqh+muI5Mr74HcmL+jz75MPz8gv7ZuJJ9MTb1PuHU7rYEYeXEZOmfTt7Yn6boqZ8ZySg6VWETcmnMypHvhG60NOJ6oqqtagKFvbU2fCmUO4jcJ+4gkx5bQnZ+8XSdS3lyFkAqgM58veBNhLZue591SvWPkeQX5G5LBaIx4Raqu3zt9oTWi/an3/J3eI1maOqupZObsxAVoXhbsP/huxokah6ag35ARkEkOuWaxDGYTa50E4PyesQy0z2d+DLC7e7K3eoi03Q5xEIEDrkFoEX6IErhPWCPHyLr+eVDe/4fuvR/mj+QoM/Cg0vtKgWcgg8kMWLfjv5hrnhP/f1czzGBcC6fsySkITS5b4aIxsBm7Fx3FN2ti5PPiUNtYU+dCufc+6aMsv0bMuiZ2M6ILQGJhYJMROCcdgDdhp+mstLdcCLZWNGjySiBAwYpKa71grHdPZ916gyccgprWjWBvGKTEY3xfJ8vXUqmal3mJoqwFoPIQcZ6RgwhVy41y9MA3X304b7YfsTMdN3wIB9521m4x9ff0f1BVv9T4nAAA=&quot;"/>
    <we:property name="isFooterCollapsed" value="true"/>
    <we:property name="isFiltersActionButtonVisible" value="true"/>
    <we:property name="isVisualContainerHeaderHidden" value="false"/>
    <we:property name="reportEmbeddedTime" value="&quot;2026-03-04T21:11:22.639Z&quot;"/>
    <we:property name="creatorTenantId" value="&quot;8051c068-3df3-4224-b116-3152367abf11&quot;"/>
    <we:property name="creatorUserId" value="&quot;10032003AF12A32E&quot;"/>
    <we:property name="creatorSessionId" value="&quot;3ccfac1b-bd90-4d4e-8ead-585c3ccfd2b1&quot;"/>
    <we:property name="numberOfAnnotations" value="0"/>
    <we:property name="annotationNoteShown" value="true"/>
  </we:properties>
  <we:bindings/>
  <we:snapshot xmlns:r="http://schemas.openxmlformats.org/officeDocument/2006/relationships" r:embed="rId1"/>
</we:webextension>
</file>

<file path=ppt/webextensions/webextension4.xml><?xml version="1.0" encoding="utf-8"?>
<we:webextension xmlns:we="http://schemas.microsoft.com/office/webextensions/webextension/2010/11" id="{98F7275F-87C6-4ECD-B3EC-9E921D8231B7}">
  <we:reference id="ad3bb869-dfe9-409b-95f2-98016482b42b" version="2.0.0.3" store="EXCatalog" storeType="EXCatalog"/>
  <we:alternateReferences>
    <we:reference id="wa200003233" version="2.0.0.3" store="en-us" storeType="OMEX"/>
  </we:alternateReferences>
  <we:properties>
    <we:property name="reportUrl" value="&quot;/groups/me/reports/783d045f-b8df-4719-8d17-c1cdae355294/2c8ce66afd415d22b6a8?ctid=8051c068-3df3-4224-b116-3152367abf11&amp;pbi_source=shareVisual&amp;visual=a53443796d83094edd37&amp;height=416.56&amp;width=446.18&amp;bookmarkGuid=56de904f-c9d5-4e28-b68c-d4138660d7d8&amp;fromEntryPoint=sharevisual&quot;"/>
    <we:property name="artifactName" value="&quot;El 16.96% de las consultas finaliza en Alta Médica&quot;"/>
    <we:property name="reportName" value="&quot;MedRed Clinic Efficiency&quot;"/>
    <we:property name="reportState" value="&quot;CONNECTED&quot;"/>
    <we:property name="embedUrl" value="&quot;/reportEmbed?reportId=783d045f-b8df-4719-8d17-c1cdae355294&amp;config=eyJjbHVzdGVyVXJsIjoiaHR0cHM6Ly9XQUJJLVNPVVRILUNFTlRSQUwtVVMtQy1QUklNQVJZLXJlZGlyZWN0LmFuYWx5c2lzLndpbmRvd3MubmV0IiwiZW1iZWRGZWF0dXJlcyI6eyJ1c2FnZU1ldHJpY3NWTmV4dCI6dHJ1ZX19&amp;disableSensitivityBanner=true&amp;storytellingAnnotations=true&amp;storytellingChangeViewModeShortcutKeys=true&quot;"/>
    <we:property name="pageName" value="&quot;2c8ce66afd415d22b6a8&quot;"/>
    <we:property name="pageDisplayName" value="&quot;Situacion Actual&quot;"/>
    <we:property name="datasetId" value="&quot;efa1a7ad-f095-4793-921d-5e4ffa30c731&quot;"/>
    <we:property name="backgroundColor" value="&quot;#1E293B&quot;"/>
    <we:property name="bookmark" value="&quot;H4sIAAAAAAAAA+1a6U4bSRB+FcvSKn+sVV9z8Y8r2ijhWBxlf6wQqu4umwnjGe/MmMAiXmTfYJ8jL7bVYxsbsD0OGOxFQUJ4uru67q+qBt80bVz0E7g+hB42t5o7WXbRg/yiwZutZjpaOzr6eLB98vHscPtgn5azfhlnadHcummWkHex/BIXA0jcDbT452mrCUlyDF331IGkwFazj3mRpZDEf+PwMG2V+QBvW0286idZDu7Kdgklumsv6Tg9E2/+qySOYMr4EttoyuGqMKFB34eOVdyzQmgfQjrWiZOSKN0N+nr/qp+TNDdjLbRi6AP3AyYCYWUUKqaIprzuu91d4tzN8thAcneRu+fLWBLRar7Ps15148hWPTq5n5Zxee0e0MYmK2jpc3UjuyU7/HGOOVYku1lq46H0RJ+V7o+TEItitPghvb9WjOiSQS99fLqdDXKDJ9iZPFQS3ZJFj/OM7F1JtV/00cRkdwuW9kikL5AMKjfR5Z9i0pIUdnq6ZSJ4147TxnYRd1PI3zmK01v3czp01JQASwn2yDqLxWs1z7NvuzmSL2xzi1dci6HTK6fOdLsLlyqkyMQlxOkoABh6YD2OSmnDGQuRecatF3HaTUZBOKEd+qxZ4lWpsysX4/orMXY3kQyjFHHHe5l1B89jazElkWlXGCv9DgtCxiUoBtKPAnd0YTQGVneY1iYIUDMdqAg9fxKN2/YSUkNGeGj17Twuz3tYxpUun7BTBdIBQjHIcVlnnI3OP3LHAXnJQkNuNX5pbCclNA6+/0t+g+rcSdw9r7i1DRHY/cuh/e4zfBVJKgEc0LiHIyKBMiPjyscB1LqpteirSDwtFRuG9aIwNJDb0daDSMxyi/nOdRVJe3E+BkQCp1f3gwOTxYkhBWeSMRUw40cWPWkib35izATiF8Ccw6ynyTJPcEuRxIaqwrRLiAkVQPfBQgmVHv0hqxiLiVluKkWqlJ0BuXtEYbNvqcPbCmtvxxWPxP46hX932L1qU5zWgpz0tDCewynLDBeMax3Uwmncoybgx8BUElBDJ/I8XwklIykEytqYmQ+X3W6OXRjX3f1nRJMhHwwoAx4ZcW+QgyHSs16cVnvvB+koLflacn/9Si8BDZoLH30puccw1IpjBC8RTp4CLjpM8sjqMOLAQo21fKDSZGdQlqTPD7HzlTFaBNwgFxAyLQOt1494v2VFPy7p9p+Yd88Y9ahH8wILrG8lWg/QQCS4qW3t0PJAMmSWQpwLz2egwp+t3c/W7i21dkEkfYGKfoEj0GjFAl4/83gowo4NNINQCiOYhrc/gU/jzYZN3wvqQuvOaSJkzHpKA+fMCkRmWPQ8p5lpp006jLW6zTy0zQlWYtlsOb+t0Flze65pkWb4axN64WNqCjEt8cPeg6bQewJUng9Sm6M9RpIgLdslmAu0O5DvnkNebnJzvMgKLphm9jmjTLpeU6cTdBRGAQ89xkIWhkzq4dy16oY8tBhh6BsRhshDzSIjsbZwgJaEP0ypyOPaD3lIcDTBoM9Z/3Bp8CkG+q8BkpkfBkZ7vEGffx9/eEbtad0dPJs+OCnH9/CujQlZcBX1ZjzTt8bsOzEmtumYHK20w7gT4WxOZ8G3Gh9SyrYiKxr9LG/sTuWLE4f8NkyJsSXElNGeXNlfpIhPXpSQCKATnE97F2AvWbnnvsN6xa74BNILAof1CrFEqK1fOrXVGJeEovH9n9R5tBJz2HHPque1xbF0Ubj/6D8Vaxoi6lK9piYgk+hzw0LjS883inv+/JqwCX3OWL9HFV682Td+i1Sud3EUgABjfBoflEQJ3ESs1sWrezH2pJ76Db8bW8oe9U0jqMC3ShswzGcQKJ8FC/7zucE14f/32uZ5iAueVEoGkW9DySKF1sp6x605HTdkxJ2Lg08ZcW2WDsqNn2cXqfwS8+yS6OQ2reiAMOjZUESEQBFHbwMQaPprLQ035qwUcRanto2EDxgwSQN2aLQJKb9fYpBHL6S7g9BYxgn8rVIiWj2fitWs8poNyqIPBo8hxRlllvwKqXWmXlhqq2+nDfUhOePRYLeAwH1n7a4q397+B9ScFME+JwAA&quot;"/>
    <we:property name="initialStateBookmark" value="&quot;H4sIAAAAAAAAA+1a6U4bSRB+FcvSKn+sVV9z8Y8r2ijhWBxlf6wQqu4umwnjGe/MmMAiXmTfYJ8jL7bVYxsbsD0OGOxFQUJ4uru67q+qBt80bVz0E7g+hB42t5o7WXbRg/yiwZutZjpaOzr6eLB98vHscPtgn5azfhlnadHcummWkHex/BIXA0jcDbT452mrCUlyDF331IGkwFazj3mRpZDEf+PwMG2V+QBvW0286idZDu7Kdgklumsv6Tg9E2/+qySOYMr4EttoyuGqMKFB34eOVdyzQmgfQjrWiZOSKN0N+nr/qp+TNDdjLbRi6AP3AyYCYWUUKqaIprzuu91d4tzN8thAcneRu+fLWBLRar7Ps15148hWPTq5n5Zxee0e0MYmK2jpc3UjuyU7/HGOOVYku1lq46H0RJ+V7o+TEItitPghvb9WjOiSQS99fLqdDXKDJ9iZPFQS3ZJFj/OM7F1JtV/00cRkdwuW9kikL5AMKjfR5Z9i0pIUdnq6ZSJ4147TxnYRd1PI3zmK01v3czp01JQASwn2yDqLxWs1z7NvuzmSL2xzi1dci6HTK6fOdLsLlyqkyMQlxOkoABh6YD2OSmnDGQuRecatF3HaTUZBOKEd+qxZ4lWpsysX4/orMXY3kQyjFHHHe5l1B89jazElkWlXGCv9DgtCxiUoBtKPAnd0YTQGVneY1iYIUDMdqAg9fxKN2/YSUkNGeGj17Twuz3tYxpUun7BTBdIBQjHIcVlnnI3OP3LHAXnJQkNuNX5pbCclNA6+/0t+g+rcSdw9r7i1DRHY/cuh/e4zfBVJKgEc0LiHIyKBMiPjyscB1LqpteirSDwtFRuG9aIwNJDb0daDSMxyi/nOdRVJe3E+BkQCp1f3gwOTxYkhBWeSMRUw40cWPWkib35izATiF8Ccw6ynyTJPcEuRxIaqwrRLiAkVQPfBQgmVHv0hqxiLiVluKkWqlJ0BuXtEYbNvqcPbCmtvxxWPxP46hX932L1qU5zWgpz0tDCewynLDBeMax3Uwmncoybgx8BUElBDJ/I8XwklIykEytqYmQ+X3W6OXRjX3f1nRJMhHwwoAx4ZcW+QgyHSs16cVnvvB+koLflacn/9Si8BDZoLH30puccw1IpjBC8RTp4CLjpM8sjqMOLAQo21fKDSZGdQlqTPD7HzlTFaBNwgFxAyLQOt1494v2VFPy7p9p+Yd88Y9ahH8wILrG8lWg/QQCS4qW3t0PJAMmSWQpwLz2egwp+t3c/W7i21dkEkfYGKfoEj0GjFAl4/83gowo4NNINQCiOYhrc/gU/jzYZN3wvqQuvOaSJkzHpKA+fMCkRmWPQ8p5lpp006jLW6zTy0zQlWYtlsOb+t0Flze65pkWb4axN64WNqCjEt8cPeg6bQewJUng9Sm6M9RpIgLdslmAu0O5DvnkNebnJzvMgKLphm9jmjTLpeU6cTdBRGAQ89xkIWhkzq4dy16oY8tBhh6BsRhshDzSIjsbZwgJaEP0ypyOPaD3lIcDTBoM9Z/3Bp8CkG+q8BkpkfBkZ7vEGffx9/eEbtad0dPJs+OCnH9/CujQlZcBX1ZjzTt8bsOzEmtumYHK20w7gT4WxOZ8G3Gh9SyrYiKxr9LG/sTuWLE4f8NkyJsSXElNGeXNlfpIhPXpSQCKATnE97F2AvWbnnvsN6xa74BNILAof1CrFEqK1fOrXVGJeEovH9n9R5tBJz2HHPque1xbF0Ubj/6D8Vaxoi6lK9piYgk+hzw0LjS883inv+/JqwCX3OWL9HFV682Td+i1Sud3EUgABjfBoflEQJ3ESs1sWrezH2pJ76Db8bW8oe9U0jqMC3ShswzGcQKJ8FC/7zucE14f/32uZ5iAueVEoGkW9DySKF1sp6x605HTdkxJ2Lg08ZcW2WDsqNn2cXqfwS8+yS6OQ2reiAMOjZUESEQBFHbwMQaPprLQ035qwUcRanto2EDxgwSQN2aLQJKb9fYpBHL6S7g9BYxgn8rVIiWj2fitWs8poNyqIPBo8hxRlllvwKqXWmXlhqq2+nDfUhOePRYLeAwH1n7a4q397+B9ScFME+JwAA&quot;"/>
    <we:property name="isFooterCollapsed" value="true"/>
    <we:property name="isFiltersActionButtonVisible" value="true"/>
    <we:property name="isVisualContainerHeaderHidden" value="false"/>
    <we:property name="reportEmbeddedTime" value="&quot;2026-03-04T21:14:49.866Z&quot;"/>
    <we:property name="creatorTenantId" value="&quot;8051c068-3df3-4224-b116-3152367abf11&quot;"/>
    <we:property name="creatorUserId" value="&quot;10032003AF12A32E&quot;"/>
    <we:property name="creatorSessionId" value="&quot;e2029979-e51a-4072-aee8-0a0684dec171&quot;"/>
    <we:property name="numberOfAnnotations" value="0"/>
    <we:property name="annotationNoteShown" value="true"/>
  </we:properties>
  <we:bindings/>
  <we:snapshot xmlns:r="http://schemas.openxmlformats.org/officeDocument/2006/relationships" r:embed="rId1"/>
</we:webextension>
</file>

<file path=ppt/webextensions/webextension5.xml><?xml version="1.0" encoding="utf-8"?>
<we:webextension xmlns:we="http://schemas.microsoft.com/office/webextensions/webextension/2010/11" id="{9D507035-8F2A-4516-B1F3-A5F12CCC9F00}">
  <we:reference id="ad3bb869-dfe9-409b-95f2-98016482b42b" version="2.0.0.3" store="EXCatalog" storeType="EXCatalog"/>
  <we:alternateReferences>
    <we:reference id="wa200003233" version="2.0.0.3" store="en-us" storeType="OMEX"/>
  </we:alternateReferences>
  <we:properties>
    <we:property name="reportUrl" value="&quot;/groups/me/reports/783d045f-b8df-4719-8d17-c1cdae355294/f653261f3389106303a1?ctid=8051c068-3df3-4224-b116-3152367abf11&amp;pbi_source=shareVisual&amp;visual=de0275d37271ccdc1475&amp;height=400.52&amp;width=846.01&amp;bookmarkGuid=fca69a0f-5b2f-41f0-9780-fc85560a4810&amp;fromEntryPoint=sharevisual&quot;"/>
    <we:property name="artifactName" value="&quot;Estandarización de Duracion por Especialidad (Neurologia es consistente pero Medicina Interna tiene dispersion)&quot;"/>
    <we:property name="reportName" value="&quot;MedRed Clinic Efficiency&quot;"/>
    <we:property name="reportState" value="&quot;CONNECTED&quot;"/>
    <we:property name="embedUrl" value="&quot;/reportEmbed?reportId=783d045f-b8df-4719-8d17-c1cdae355294&amp;config=eyJjbHVzdGVyVXJsIjoiaHR0cHM6Ly9XQUJJLVNPVVRILUNFTlRSQUwtVVMtQy1QUklNQVJZLXJlZGlyZWN0LmFuYWx5c2lzLndpbmRvd3MubmV0IiwiZW1iZWRGZWF0dXJlcyI6eyJ1c2FnZU1ldHJpY3NWTmV4dCI6dHJ1ZX19&amp;disableSensitivityBanner=true&amp;storytellingAnnotations=true&amp;storytellingChangeViewModeShortcutKeys=true&quot;"/>
    <we:property name="pageName" value="&quot;f653261f3389106303a1&quot;"/>
    <we:property name="pageDisplayName" value="&quot;Analisis Especialidad y Alta Medica&quot;"/>
    <we:property name="datasetId" value="&quot;efa1a7ad-f095-4793-921d-5e4ffa30c731&quot;"/>
    <we:property name="backgroundColor" value="&quot;#1E293B&quot;"/>
    <we:property name="bookmark" value="&quot;H4sIAAAAAAAAA+1a227bRhD9FYFAkReh2AvJJf1mOw4aoLk0StOHwij2MpQ3obgqSTlWDH1QH/rUT8iPdZakZEVWJDn1Dan8YHG5O7tnzszOzJK8DIytxrmcvpQjCA6CI+c+jGT5oUeDflC095RWJIylCClTVPA4ShPAXjeurSuq4OAyqGU5hPqdrSYy9xPhzd9P+4HM89dy6FuZzCvoB2MoK1fI3H6CdjB21eUEZv0ALsa5K6WfclDLGvy05zgc2wiB/shxRalrew4D0HV7N4sjzmKacZ6klMSccOlhZzavUdLPoKYnF+MS0VwulAkJxJLGgjDBDE+TkIQoU0/HvvcYVx660mqZLyby87ybI2H94FnpRs2MHWUjHHlS1Lae+gYYq12Ft942M5IZ8vDbGZTQiBy7wtgWPcq72v94hFBV3c3nxZf3qk4un4yK66MHblJqeAPZVaNBNENGX5cO+W5QnVRj0BZ5N9JgH0J6J/NJYyac/GeLWqLCXk9/GwWeDGzRO6zssJDlEy9xOvN/p62hlgDsBOwaO5vh9YMz9/G4BLSFCQ5os2rVGr0x6lqze3dpXAoprqUtOgcgSaQ5ixijOpRobwDSuFZli2HeOeGVbGuzoIaLWrkL7+PqPS7sZ0IM3U7xw0fO+IFn1hgoEDL2MmIgY6EmJub4LwoliRq0a71xrb/dAbU/uWpsa5x9lVbS0rqJhiq3Gt1/mQVcBne6vzCylo0m43YxC9UVMZeNKv53nW89RQnjPhbesRqnms23NgJ/v2TohZPePhmn2+1JNSWRoYSKhEFkEsrZw9vzpRspjCV7ay5RsYMtk5BlIqXCiFgSAoq3em3MFGkEMhJchnFsVMJpEkt4oExxJ0lheTdsTwjz0b1fC9vkZcz51i1ywx1lhg3hq78wVMggTGKWEq4ko4JpnrIrQx2ac1lolFkFeFja+mwEtdWNa0PWZOMXIKtJCbvi/qMbfw35C1TIyB4/6P3QO8xr2Xvx+S9UUTbj3tjhWbPaQKOAOTlvyf5ywXtB0gDw1ZpvvEIRWTv0Y349C/cvtzJ6L4hvGPa0LE3XtZLOXWmgPJo2W+mpLedVJe7be7eD34CbI5ggRiqqI6qFTkSsFWNiewTL0jgELHliSlJhCNE0vtoYb9345c6hq5qoPydQToNVdgbzDrz+ZX7xH4JgfzFQLw/UGPQmSNpKvBxAjna7/RK5PweRWcixjUu92tFdDofDEoZyHrpPbh4UFyD1KsjjjoXnT5ueZ5OiQxG1PoQmba/nJLElPh9X9rl+JHkrVQ5fn2HhgQ92ElnOOUSEYaKACU6IpAQSSpIdcs5jjJDZpCjgsUfHtRVlV4NNb6+mXPXKrZVlEkYZVxyjMo+IVCSVQPeV5Y0qy+P8898FattDF4DcNx5FVWkIWjbNNAGmQuOty+N9VbmvKr+nqjIxIhSgQ0DnjnhCiCL76PWN5+KBHX3+p+gdOYxg50tPTR8yhqXSUK1irPw50QqSiOhoH8P2Mex7imGKGCE1MIgTTbQIGUliP3Sj7rJR6WhS1wj4Ro/5DRAmIsMFE1Rro2koNjzm7/YhlUTrjEQpAcFjHqskJPuD+Pd+EI/3B/G7P4grIZShoSZpqDSVCVfsq+9zHyoNkzjJsiQhXDKIWKQ117scJR5j0hjbc1e3DvK4k8b6BwaNyW/xHdT1zfPGfbyrN5a+D7gSLI6wnmN4JKWMJyb8evq5r12wZbf+/95N3vg5UpYwwn0YoxEnsU4NibZ/p/CtVUyz4jqq3aSuxlhMvZYFrKEcqZaF8TbdSHvzsU+rFsK1XTLZIOA/AVpYaDb7F09LMAqUJAAA&quot;"/>
    <we:property name="initialStateBookmark" value="&quot;H4sIAAAAAAAAA+1azXLbNhB+FQ1nOrloOvghCdI32XGmmdR2aqXpoePJgMBSRkIRKknZVj16oB566iPkxbogKVmRFUlO/TepfLBIAAt8++1id0Hy2tOmHGVyciyH4O15+9Z+GsriU4d6XS9v205O3hz1Tt98OO4dHWKzHVXG5qW3d+1VshhA9d6UY5m5GbDx97OuJ7PsrRy4u1RmJXS9ERSlzWVm/oRmMHZVxRimXQ+uRpktpJuyX8kK3LQXOBzvcW36I8cVparMBfRBVU1rGgachTTlPIopCTnh0uFNTVahpJshmRxejQpEcz3TIvEJhJKGgjDBNI8jn/goU01GrvcAVx7YwiiZzSdy87yfIWFd71Vhh/WMLVdDHHmYV6aauBvQRtkSm97VM5Ip8vDbORRQixzYXJsGPcrbyv04hFCWbePr/Mu2spXLxsP89ui+HRcKTiG9uakRTZHRt4VFvmtUh+UIlEHetdTYh5Dey2xcmwkn/9mglqiw09M1o8CLvsk7vdIMclm8cBJnU/d31hhqAcBWwG6xsx5e1zu3lwcFoC20t0frVcvG6LVRV5rduUvtUkhxJU3eOgCJAsVZwBhVvkR7A5DatUqTD7LWCW9kG5t5FVxVib1yPp58xIXdTIih3SJu+NBqN/DcaA05QsZeRjSkzFdEhxz/Bb4kQY12pTeu9LcHoPYnW45MhbMv00oaWtfRUGZGofsvsoDL4E53F1pWstZk1CxmoLwh5rpWxf2u8q2XKKHtZe4cq3aq6WxrI/CPC4aeO+n9k3G22Z5UURJoSqiIGAQ6opw9vT2P7TDBWLKz5gIVW9gy8lkqYiq0CCUhkPBGr7WZIg5ABoJLPwx1EnEahRKeKFM8SFJY3A2bE8JsdOfX3NR5GXO+sfPc8ECZYU346s4N5TPwo5DFhCeSUcEUj9mNoXr6QuYKZZYB9gpTnQ+hMqp2bUjrbHwEshwXsC3uD+34W8iPUCEtO3yv80Onl1Wyc/T5L1RR1uNOzeC8Xq2vUEAfXjRkf7ngoyCpAbhqzd2coIisLPoxv52Fu9cbGX0UxHcMe0oWuu1aSue20FDsT+qt9NIUs6oS9+2j28FtwPURTBAtE6oCqoSKRKgSxsTmCJbGoQ9Y8oSUxEITomh4szHe2dHx1qGrHCd/jKGYeMvs9GcdeP3L7OI/BMHufKBaHKgw6I2RtKV42YcM7Xb/JXJ3BiI1kOE9LnWypbv0BoMCBnIWug/vHhTnINUyyIOWhdcv655X47xFETQ+hCZtrmcksQU+n1f2uX0keSeTDL4+w9wDn+wksphziPD9KAEmOCGSEogoibbIOc8xQqbjPIfnHh1XVpRtDTa5v5py2Ss3VpaRH6Q84RiVeUBkQmIJdFdZ3qmyPMg+/52jth10AcjczbOoKjVBy8apIsASXzvr8nBXVe6qyu+pqoy08AUoH9C5Ax4RkpBd9PrGc3HfDD//k3f2LUawi4Wnpk8Zw2KpqUpCrPw5UQlEAVHBLobtYtj3FMMSooVUwCCMFFHCZyQK3dC1ustapf1xVSHgOz3m10CYCDQXTFCltKK+WPOYv92HVBKlUhLEBAQPeZhEPtkdxL/3g3i4O4g//EE8ESLR1Fck9hNFZcQT9tX3uU+VhkkYpWkUES4ZBCxQiqttjhLPMWmMzIWtGgd53klj9QOD2uT3+A7q9uY5tZcP9cbS9QFPBAsDrOcYHkkp45H2v55+HmsXbNit/793k3d+jpRGjHAXxmjASahiTYLN3yl8axVTr7iKajuuyhEWU29lDisoR6plrp1N19Jef+zTqIVwTZtM1gi4T4DmFppO/wWFAL3OjSQAAA==&quot;"/>
    <we:property name="isFooterCollapsed" value="true"/>
    <we:property name="isFiltersActionButtonVisible" value="true"/>
    <we:property name="isVisualContainerHeaderHidden" value="false"/>
    <we:property name="reportEmbeddedTime" value="&quot;2026-03-04T21:52:34.735Z&quot;"/>
    <we:property name="creatorTenantId" value="&quot;8051c068-3df3-4224-b116-3152367abf11&quot;"/>
    <we:property name="creatorUserId" value="&quot;10032003AF12A32E&quot;"/>
    <we:property name="creatorSessionId" value="&quot;efc6a6a5-892b-4381-befe-25e46c880fd6&quot;"/>
  </we:properties>
  <we:bindings/>
  <we:snapshot xmlns:r="http://schemas.openxmlformats.org/officeDocument/2006/relationships" r:embed="rId1"/>
</we:webextension>
</file>

<file path=ppt/webextensions/webextension6.xml><?xml version="1.0" encoding="utf-8"?>
<we:webextension xmlns:we="http://schemas.microsoft.com/office/webextensions/webextension/2010/11" id="{40ED12D6-A85C-468C-A332-A6C002472B89}">
  <we:reference id="ad3bb869-dfe9-409b-95f2-98016482b42b" version="2.0.0.3" store="EXCatalog" storeType="EXCatalog"/>
  <we:alternateReferences>
    <we:reference id="wa200003233" version="2.0.0.3" store="en-us" storeType="OMEX"/>
  </we:alternateReferences>
  <we:properties>
    <we:property name="reportUrl" value="&quot;/groups/me/reports/783d045f-b8df-4719-8d17-c1cdae355294/f653261f3389106303a1?ctid=8051c068-3df3-4224-b116-3152367abf11&amp;pbi_source=shareVisual&amp;visual=20def24c0d63c0d54a05&amp;height=79.00&amp;width=201.10&amp;bookmarkGuid=2e0f7f01-a6e5-4399-8eb1-0c08d087e24c&amp;fromEntryPoint=sharevisual&quot;"/>
    <we:property name="artifactName" value="&quot;Slicer&quot;"/>
    <we:property name="reportName" value="&quot;MedRed Clinic Efficiency&quot;"/>
    <we:property name="reportState" value="&quot;CONNECTED&quot;"/>
    <we:property name="embedUrl" value="&quot;/reportEmbed?reportId=783d045f-b8df-4719-8d17-c1cdae355294&amp;config=eyJjbHVzdGVyVXJsIjoiaHR0cHM6Ly9XQUJJLVNPVVRILUNFTlRSQUwtVVMtQy1QUklNQVJZLXJlZGlyZWN0LmFuYWx5c2lzLndpbmRvd3MubmV0IiwiZW1iZWRGZWF0dXJlcyI6eyJ1c2FnZU1ldHJpY3NWTmV4dCI6dHJ1ZX19&amp;disableSensitivityBanner=true&amp;storytellingAnnotations=true&amp;storytellingChangeViewModeShortcutKeys=true&quot;"/>
    <we:property name="pageName" value="&quot;f653261f3389106303a1&quot;"/>
    <we:property name="pageDisplayName" value="&quot;Analisis Especialidad y Alta Medica&quot;"/>
    <we:property name="datasetId" value="&quot;efa1a7ad-f095-4793-921d-5e4ffa30c731&quot;"/>
    <we:property name="backgroundColor" value="&quot;#1E293B&quot;"/>
    <we:property name="bookmark" value="&quot;H4sIAAAAAAAAA+1azXLbNhB+FQ1nOrloOvghCdI3+SfTTGo7tVL30PFkQGApI6EIlaRsqx49UA899RHyYl2QlKzIimSn/ptUPlgEiAW+/XaxuyB57WlTjjI5OZJD8Ha8XWs/DWXxqUO9rpe3fcfHbw97J28/HPUOD7Dbjipj89LbufYqWQygOjXlWGZuBuz8/azrySx7JweulcqshK43gqK0uczMn9AMxltVMYZp14OrUWYL6absV7ICN+0FDsc2rk1/5LiiVJW5gD6oqulNw4CzkKacRzElISdcOrypySqUdDMkk4OrUYFormdaJD6BUNJQECaY5nHkEx9lqsnI3d3DlQe2MEpm84ncPKczJKzrvS7ssJ6x5WqIIw/yylQT1wBtlC2x6309I5kiD7+dQwG1yJ7NtWnQo7yt3I9DCGXZdr7Jv+wrW7lsPMxvj+7bcaHgBNKbRo1oioy+KyzyXaM6KEegDPKupcZ7COlUZuPaTDj5zwa1RIWdnq4bBV71Td7plWaQy+KVkzibur+zxlALAO4E7BY76+F1vXN7uVcA2kJ7O7RetWyMXht1pdmdu9QuhRRX0uStA5AoUJwFjFHlS7Q3AKldqzT5IGud8Ea2sZlXwVWV2Cvn48lHXNjNhBjaLeKGD612A8+N1pAjZLzLiIaU+YrokOO/wJckqNGu9MaV/vYI1P5ky5GpcPZlWklD6zoayswodP9FFnAZ3OnuQstK1pqMmsUMlDfEXNequN9VvrWPEtpe5s6xaqeazrY2Av+4YOi5kz48GWeNzaiiJNCUUBExCHREOXt+mx3ZYYLxYmuxBSrONu+/yGepiKnQIpSEQMIbvdZmgzgAGQgu/TDUScRpFEp4pmzwKIF/0eM3B/3Z6M6vualzL+Z1Y+fx/5Gi/5oQ1Z0bymfgRyGLCU8ko4IpHrMbQ/X0hcwVyiwD7BWmOh9CZVTt2pDWGfcQZDku4K64P7TjbyE/RIW07PCdzg+dXlbJzuHnv1BFWY87MYPzerW+QgF9cNGQ/eWCT4KkBuAqMtc4RhFZWfRjfjvTdq83MvokiO8Z9pQsdHtrKWXbQkOxO6m30r4pZpUj7tsnt4PbgOsjmCBaJlQFVAkViVAljInNESyNQx+wrAkpiYUmRNHwZmO8t6OjO4eucpz8MYZi4i2z05/dwOtfZhf/IQh25wPV4kCFQW+MpC3Fyz5kaLeHL4O7MxCpgQzbuNTxHd2lNxgUMJCz0H1w/6A4B6mWQe61LLzZr++8HuctiqDxITRpcz0jiS3w+bKyz+1jx3uZZPD1GeYe+GynjcWcQ4TvRwkwwQmRlEBESXSHnPMSI2Q6znN46dFxZUXZ1mCTh6spl71yY2UZ+UHKE45RmQdEJiSWQLeV5b0qy73s8985attBF4DMNV5EVakJWjZOFQGW+NpZl4fbqnJbVX5PVWWkhS9A+YDOHfCIkIRso9c3nov7Zvj5n7yzazGCXSw8GX3OGBZLTVUSYuXPiUogCogKtjFsG8O+pxiWEC2kAgZhpIgSPiNR6Iau1V3WKu2OqwoB3+tRvgbCRKC5YIIqpRX1xZpH+e0+pJIolZIgJiB4yMMk8sn2IP69H8TD7UH88Q/iiRCJpr4isZ8oKiOesK++s32uNEzCKE2jiHDJIGCBUlzd5SjxEpPGyFzYqnGQl500Vj8wqE3+gO+gbm+eE3v5WG8lN6Um4IlgYYC1HsPjKmU80v7XU9NT7ZANO/n/997y3s+Y0ogR7kIcDTgJVaxJsPk7hW+tcOoVV1Ftx1U5wkLrncxhBeVItcy1s+la2uuPfRq1EK5pE80aAfcJ0NxC0+m/v03HhY0kAAA=&quot;"/>
    <we:property name="initialStateBookmark" value="&quot;H4sIAAAAAAAAA+1azXLbNhB+FQ1nOrloOvghCdI3+SfTTGo7tVL30PFkQGApI6EIlaRsqx49UA899RHyYl2QlKzIimSn/ptUPlgEiAW+/XaxuyB57WlTjjI5OZJD8Ha8XWs/DWXxqUO9rpe3fcfHbw97J28/HPUOD7Dbjipj89LbufYqWQygOjXlWGZuBuz8/azrySx7JweulcqshK43gqK0uczMn9AMxltVMYZp14OrUWYL6absV7ICN+0FDsc2rk1/5LiiVJW5gD6oqulNw4CzkKacRzElISdcOrypySqUdDMkk4OrUYFormdaJD6BUNJQECaY5nHkEx9lqsnI3d3DlQe2MEpm84ncPKczJKzrvS7ssJ6x5WqIIw/yylQT1wBtlC2x6309I5kiD7+dQwG1yJ7NtWnQo7yt3I9DCGXZdr7Jv+wrW7lsPMxvj+7bcaHgBNKbRo1oioy+KyzyXaM6KEegDPKupcZ7COlUZuPaTDj5zwa1RIWdnq4bBV71Td7plWaQy+KVkzibur+zxlALAO4E7BY76+F1vXN7uVcA2kJ7O7RetWyMXht1pdmdu9QuhRRX0uStA5AoUJwFjFHlS7Q3AKldqzT5IGud8Ea2sZlXwVWV2Cvn48lHXNjNhBjaLeKGD612A8+N1pAjZLzLiIaU+YrokOO/wJckqNGu9MaV/vYI1P5ky5GpcPZlWklD6zoayswodP9FFnAZ3OnuQstK1pqMmsUMlDfEXNequN9VvrWPEtpe5s6xaqeazrY2Av+4YOi5kz48GWeNzaiiJNCUUBExCHREOXt+mx3ZYYLxYmuxBSrONu+/yGepiKnQIpSEQMIbvdZmgzgAGQgu/TDUScRpFEp4pmzwKIF/0eM3B/3Z6M6vualzL+Z1Y+fx/5Gi/5oQ1Z0bymfgRyGLCU8ko4IpHrMbQ/X0hcwVyiwD7BWmOh9CZVTt2pDWGfcQZDku4K64P7TjbyE/RIW07PCdzg+dXlbJzuHnv1BFWY87MYPzerW+QgF9cNGQ/eWCT4KkBuAqMtc4RhFZWfRjfjvTdq83MvokiO8Z9pQsdHtrKWXbQkOxO6m30r4pZpUj7tsnt4PbgOsjmCBaJlQFVAkViVAljInNESyNQx+wrAkpiYUmRNHwZmO8t6OjO4eucpz8MYZi4i2z05/dwOtfZhf/IQh25wPV4kCFQW+MpC3Fyz5kaLeHL4O7MxCpgQzbuNTxHd2lNxgUMJCz0H1w/6A4B6mWQe61LLzZr++8HuctiqDxITRpcz0jiS3w+bKyz+1jx3uZZPD1GeYe+GynjcWcQ4TvRwkwwQmRlEBESXSHnPMSI2Q6znN46dFxZUXZ1mCTh6spl71yY2UZ+UHKE45RmQdEJiSWQLeV5b0qy73s8985attBF4DMNV5EVakJWjZOFQGW+NpZl4fbqnJbVX5PVWWkhS9A+YDOHfCIkIRso9c3nov7Zvj5n7yzazGCXSw8GX3OGBZLTVUSYuXPiUogCogKtjFsG8O+pxiWEC2kAgZhpIgSPiNR6Iau1V3WKu2OqwoB3+tRvgbCRKC5YIIqpRX1xZpH+e0+pJIolZIgJiB4yMMk8sn2IP69H8TD7UH88Q/iiRCJpr4isZ8oKiOesK++s32uNEzCKE2jiHDJIGCBUlzd5SjxEpPGyFzYqnGQl500Vj8wqE3+gO+gbm+eE3v5WG8lN6Um4IlgYYC1HsPjKmU80v7XU9NT7ZANO/n/997y3s+Y0ogR7kIcDTgJVaxJsPk7hW+tcOoVV1Ftx1U5wkLrncxhBeVItcy1s+la2uuPfRq1EK5pE80aAfcJ0NxC0+m/v03HhY0kAAA=&quot;"/>
    <we:property name="isFooterCollapsed" value="true"/>
    <we:property name="isFiltersActionButtonVisible" value="true"/>
    <we:property name="isVisualContainerHeaderHidden" value="false"/>
    <we:property name="reportEmbeddedTime" value="&quot;2026-03-04T22:00:36.639Z&quot;"/>
    <we:property name="creatorTenantId" value="&quot;8051c068-3df3-4224-b116-3152367abf11&quot;"/>
    <we:property name="creatorUserId" value="&quot;10032003AF12A32E&quot;"/>
    <we:property name="creatorSessionId" value="&quot;b2f76b60-a0a3-46bd-8154-8e12c245488b&quot;"/>
  </we:properties>
  <we:bindings/>
  <we:snapshot xmlns:r="http://schemas.openxmlformats.org/officeDocument/2006/relationships" r:embed="rId1"/>
</we:webextension>
</file>

<file path=ppt/webextensions/webextension7.xml><?xml version="1.0" encoding="utf-8"?>
<we:webextension xmlns:we="http://schemas.microsoft.com/office/webextensions/webextension/2010/11" id="{AD52FC39-FE3B-428D-AD5A-A114891BC11B}">
  <we:reference id="ad3bb869-dfe9-409b-95f2-98016482b42b" version="2.0.0.3" store="EXCatalog" storeType="EXCatalog"/>
  <we:alternateReferences>
    <we:reference id="wa200003233" version="2.0.0.3" store="en-us" storeType="OMEX"/>
  </we:alternateReferences>
  <we:properties>
    <we:property name="reportUrl" value="&quot;/groups/me/reports/783d045f-b8df-4719-8d17-c1cdae355294/6a93647db3e45d20b806?ctid=8051c068-3df3-4224-b116-3152367abf11&amp;pbi_source=shareVisual&amp;visual=545ff095ca472717a197&amp;height=317.08&amp;width=608.88&amp;bookmarkGuid=d21a1c5c-2153-4138-b86f-29d38a9bd501&amp;fromEntryPoint=sharevisual&quot;"/>
    <we:property name="artifactName" value="&quot;Estandarización de Duracion por Especialidad (Neurologia es consistente pero Medicina Interna tiene dispersion)&quot;"/>
    <we:property name="reportName" value="&quot;MedRed Clinic Efficiency&quot;"/>
    <we:property name="reportState" value="&quot;CONNECTED&quot;"/>
    <we:property name="embedUrl" value="&quot;/reportEmbed?reportId=783d045f-b8df-4719-8d17-c1cdae355294&amp;config=eyJjbHVzdGVyVXJsIjoiaHR0cHM6Ly9XQUJJLVNPVVRILUNFTlRSQUwtVVMtQy1QUklNQVJZLXJlZGlyZWN0LmFuYWx5c2lzLndpbmRvd3MubmV0IiwiZW1iZWRGZWF0dXJlcyI6eyJ1c2FnZU1ldHJpY3NWTmV4dCI6dHJ1ZX19&amp;disableSensitivityBanner=true&amp;storytellingAnnotations=true&amp;storytellingChangeViewModeShortcutKeys=true&quot;"/>
    <we:property name="pageName" value="&quot;6a93647db3e45d20b806&quot;"/>
    <we:property name="pageDisplayName" value="&quot;Analisis Ingresos y Duracion&quot;"/>
    <we:property name="datasetId" value="&quot;efa1a7ad-f095-4793-921d-5e4ffa30c731&quot;"/>
    <we:property name="backgroundColor" value="&quot;#1E293B&quot;"/>
    <we:property name="bookmark" value="&quot;H4sIAAAAAAAAA+1Z23LbNhD9FQ9f8qLpAARJkH6TbaX1pL4kdpPOdDyeJQDKiCmC5cWx4tEn9Sv6Y12Q1MXyRU6cWE5q+0EiLouD3bNnAerKkbrMUxjvw0g5m86WMecjKM43qNNzsq7t4ODNXv/dm9P9/t4Am01eaZOVzuaVU0ExVNV7XdaQWgvY+NdJz4E0PYShfUogLVXPyVVRmgxS/Vm1g7GrKmo16TnqMk9NAdbkUQWVsmYvcDg+49r0F4Yrgqj0hTpSompbA4hY4HEZM+X50iVxSAIclui0wpnWQjweXOYForma7iL2iAqABpy43JUsCj3i4ZxqnNvebVx5aAotIJ0ZsnbeT5G4Ped1YUaNxc5XIxw5yCpdje2DklqYEpuOG4tkgn74cKYK1UzZNpnULXqcbyr7YRGqsuwad7PrbWU3L61H2c3RR6YuhHqnkvlDg2iCHj0sDPq7QTUocyU0+l2CxD6E9B7SugkTGv9d4y5xw3afthknvDrS2Ua/1MMMild2xsnE/p20gVoA8CBgN7xzP7yec2Y+bRcKYyGdTdqsWrZBb4J6a9gtXRpKoYsr0FlHAAoQUsrCMCS+D8QTjBLbfi9H3Mj3Bf6TUARuxH2fSLYmjjwTOvxRmNQM//0HZmRYBxXIpHc1jUJfXkAmsHUZxp6Csi7UQ3GcduNvINlDgBI26ObGbjbEflNu5KbYwOiUdVpB+XXo+kO0NYRpeAeP8KC4hmQB+U5dgMCppyOdNX2v66yTTHoTdJNdOhumnSTPM6llpyOgkF0Xin78ETPR5g1OM4VUxda4oeSOLqa6jPwfrCsklsxdKbM2R0baLZxpKZX1BdrzPT9JSOQL8LjLKQca8ZWKQIEIkRA/IoqzgAUxlo25IhybfP/BUlDW8d+1KsbOspeOph34/e30yyNEpTcbKBYHzmlzTX+OVIrx+/bq0puCSLRK8RmXOnggbR6fKzOQYhnklDO7O0sZ4rccwpA6m0FDmNZJ7oI/n7uaH0OcqrstzBi4tpq+KJXXy+ljkNwpiEvB/glE+2lB3xHi30yZ6wrDdiODniXcfTOKMSlXgl1ZELfMJWTyw5kuz62O7fXf0tBl/R0W7Ry7zOtv+cwlARtQN+z/uVwz2zsMwvq4cKIVbQ6Mfy1MnT9cE74wB08aOeMqoAEJkzAgIEIQrorV3fXvmyfp6uB8YTTKVAusuotuxkXwPmq/SKig2UfeLqVVOT8WXDUbsZ+3HXl3cIY0n7JXU5m8K3izs/O3doXd+v1nmZD5kLiux9yYBCIGyllzu7nXYZW6rGJzuUzMFStFScKkx0gcqYARRRgPV64EjZO26qpCN3zRcoJ7HHyCVy/JKaFIWc//jstJKhinsR97MsYboh8SItefEytK6P8vM27o2aq4Ki6JkDKAkMTIWcXBjVee9V9u/8sBP0iwyo9e3gC8vAH4Kd4AJIHrhsTloSCEKcJjFPyVqqAEZcQFl3OJJRCoEsT/cd4AnC4OnHv3mb0BoF9HmxmQ06+ky8tl/7trdpdFjAYAifQkxJ7vBWEUR3yeRc/tcsju2wowGXlS8FhGgaB4ROUuecBW1lucOuxCRTShoKQXcxaHXLh+8LRheKrSlepMbad1ibKsZAtxG0Ntts+gqH6Qanbr2bo7h47Xdrpu5PK2m4WpqzIHoQ4hU7fcMJBSkEklV9wyml+M23qNAdWdxt0zwf6OPLuQTCb/AcwOogHSHgAA&quot;"/>
    <we:property name="initialStateBookmark" value="&quot;H4sIAAAAAAAAA+1Z23LbNhD9FQ9f8qLpAARJkH6TbaX1pL4kdpPOdDyeJQDKiCmC5cWx4tEn9Sv6Y12Q1MXyRU6cWE5q+0EiLouD3bNnAerKkbrMUxjvw0g5m86WMecjKM43qNNzsq7t4ODNXv/dm9P9/t4Am01eaZOVzuaVU0ExVNV7XdaQWgvY+NdJz4E0PYShfUogLVXPyVVRmgxS/Vm1g7GrKmo16TnqMk9NAdbkUQWVsmYvcDg+49r0F4Yrgqj0hTpSompbA4hY4HEZM+X50iVxSAIclui0wpnWQjweXOYForma7iL2iAqABpy43JUsCj3i4ZxqnNvebVx5aAotIJ0ZsnbeT5G4Ped1YUaNxc5XIxw5yCpdje2DklqYEpuOG4tkgn74cKYK1UzZNpnULXqcbyr7YRGqsuwad7PrbWU3L61H2c3RR6YuhHqnkvlDg2iCHj0sDPq7QTUocyU0+l2CxD6E9B7SugkTGv9d4y5xw3afthknvDrS2Ua/1MMMild2xsnE/p20gVoA8CBgN7xzP7yec2Y+bRcKYyGdTdqsWrZBb4J6a9gtXRpKoYsr0FlHAAoQUsrCMCS+D8QTjBLbfi9H3Mj3Bf6TUARuxH2fSLYmjjwTOvxRmNQM//0HZmRYBxXIpHc1jUJfXkAmsHUZxp6Csi7UQ3GcduNvINlDgBI26ObGbjbEflNu5KbYwOiUdVpB+XXo+kO0NYRpeAeP8KC4hmQB+U5dgMCppyOdNX2v66yTTHoTdJNdOhumnSTPM6llpyOgkF0Xin78ETPR5g1OM4VUxda4oeSOLqa6jPwfrCsklsxdKbM2R0baLZxpKZX1BdrzPT9JSOQL8LjLKQca8ZWKQIEIkRA/IoqzgAUxlo25IhybfP/BUlDW8d+1KsbOspeOph34/e30yyNEpTcbKBYHzmlzTX+OVIrx+/bq0puCSLRK8RmXOnggbR6fKzOQYhnklDO7O0sZ4rccwpA6m0FDmNZJ7oI/n7uaH0OcqrstzBi4tpq+KJXXy+ljkNwpiEvB/glE+2lB3xHi30yZ6wrDdiODniXcfTOKMSlXgl1ZELfMJWTyw5kuz62O7fXf0tBl/R0W7Ry7zOtv+cwlARtQN+z/uVwz2zsMwvq4cKIVbQ6Mfy1MnT9cE74wB08aOeMqoAEJkzAgIEIQrorV3fXvmyfp6uB8YTTKVAusuotuxkXwPmq/SKig2UfeLqVVOT8WXDUbsZ+3HXl3cIY0n7JXU5m8K3izs/O3doXd+v1nmZD5kLiux9yYBCIGyllzu7nXYZW6rGJzuUzMFStFScKkx0gcqYARRRgPV64EjZO26qpCN3zRcoJ7HHyCVy/JKaFIWc//jstJKhinsR97MsYboh8SItefEytK6P8vM27o2aq4Ki6JkDKAkMTIWcXBjVee9V9u/8sBP0iwyo9e3gC8vAH4Kd4AJIHrhsTloSCEKcJjFPyVqqAEZcQFl3OJJRCoEsT/cd4AnC4OnHv3mb0BoF9HmxmQ06+ky8tl/7trdpdFjAYAifQkxJ7vBWEUR3yeRc/tcsju2wowGXlS8FhGgaB4ROUuecBW1lucOuxCRTShoKQXcxaHXLh+8LRheKrSlepMbad1ibKsZAtxG0Ntts+gqH6Qanbr2bo7h47Xdrpu5PK2m4WpqzIHoQ4hU7fcMJBSkEklV9wyml+M23qNAdWdxt0zwf6OPLuQTCb/AcwOogHSHgAA&quot;"/>
    <we:property name="isFooterCollapsed" value="true"/>
    <we:property name="isFiltersActionButtonVisible" value="true"/>
    <we:property name="isVisualContainerHeaderHidden" value="false"/>
    <we:property name="reportEmbeddedTime" value="&quot;2026-03-04T21:24:24.950Z&quot;"/>
    <we:property name="creatorTenantId" value="&quot;8051c068-3df3-4224-b116-3152367abf11&quot;"/>
    <we:property name="creatorUserId" value="&quot;10032003AF12A32E&quot;"/>
    <we:property name="creatorSessionId" value="&quot;89f7a913-beef-4450-a1f6-da2b3205afca&quot;"/>
  </we:properties>
  <we:bindings/>
  <we:snapshot xmlns:r="http://schemas.openxmlformats.org/officeDocument/2006/relationships" r:embed="rId1"/>
</we:webextension>
</file>

<file path=ppt/webextensions/webextension8.xml><?xml version="1.0" encoding="utf-8"?>
<we:webextension xmlns:we="http://schemas.microsoft.com/office/webextensions/webextension/2010/11" id="{D8A938D8-B9D2-4B27-A612-244EC783D521}">
  <we:reference id="ad3bb869-dfe9-409b-95f2-98016482b42b" version="2.0.0.3" store="EXCatalog" storeType="EXCatalog"/>
  <we:alternateReferences>
    <we:reference id="wa200003233" version="2.0.0.3" store="en-us" storeType="OMEX"/>
  </we:alternateReferences>
  <we:properties>
    <we:property name="reportUrl" value="&quot;/groups/me/reports/783d045f-b8df-4719-8d17-c1cdae355294/6a93647db3e45d20b806?ctid=8051c068-3df3-4224-b116-3152367abf11&amp;pbi_source=shareVisual&amp;visual=f62280278c003e07b158&amp;height=317.33&amp;width=597.79&amp;bookmarkGuid=e2064deb-f8e2-48df-b3ab-98b06d31c3be&amp;fromEntryPoint=sharevisual&quot;"/>
    <we:property name="artifactName" value="&quot;Outliers de Ingresos y su Duracion Promedio&quot;"/>
    <we:property name="reportName" value="&quot;MedRed Clinic Efficiency&quot;"/>
    <we:property name="reportState" value="&quot;CONNECTED&quot;"/>
    <we:property name="embedUrl" value="&quot;/reportEmbed?reportId=783d045f-b8df-4719-8d17-c1cdae355294&amp;config=eyJjbHVzdGVyVXJsIjoiaHR0cHM6Ly9XQUJJLVNPVVRILUNFTlRSQUwtVVMtQy1QUklNQVJZLXJlZGlyZWN0LmFuYWx5c2lzLndpbmRvd3MubmV0IiwiZW1iZWRGZWF0dXJlcyI6eyJ1c2FnZU1ldHJpY3NWTmV4dCI6dHJ1ZX19&amp;disableSensitivityBanner=true&amp;storytellingAnnotations=true&amp;storytellingChangeViewModeShortcutKeys=true&quot;"/>
    <we:property name="pageName" value="&quot;6a93647db3e45d20b806&quot;"/>
    <we:property name="pageDisplayName" value="&quot;Analisis Ingresos y Duracion&quot;"/>
    <we:property name="datasetId" value="&quot;efa1a7ad-f095-4793-921d-5e4ffa30c731&quot;"/>
    <we:property name="backgroundColor" value="&quot;#1E293B&quot;"/>
    <we:property name="bookmark" value="&quot;H4sIAAAAAAAAA+1Z23LbNhD9FQ9f8qLpAARJkH6TbaXNtLaT2E0608l4FhfKSCiC5SWx6tEn9Sv6Y12Q1MXyRXacxE5q6UEkgF0c7NkLAJ17ylRFBtMDmGhv29ux9sMEyg9b1Bt4ed92ePjr/vD1rycHw/0RNtuiNjavvO1zr4ZyrOs3pmogcxqw8c93Aw+y7CWM3VsKWaUHXqHLyuaQmb91Nxi76rLRs4Gnz4rMluBUHtVQa6f2Iw7Hd5yb/sRwRpC1+aiPtKy71ggSFgVcCaaDUPlExCTCYanJapR0GsR0dFaUiOZ8vgoREB0BjTjxua9YEgckQJl6WrjeXZx5bEsjIVsocnrezJH4A+95aSetxt5WExw5ymtTT92LVkbaCpuOW41khnZ4e6pL3Yrs2lyZDj3K29r9OIS6qvrGF/nFtqqXy5pJfnn0kW1KqV/rdPnSIpqhRV+WFu3dohpVhZYG7a5AYR9CegNZ09KEyn8zuEpcsFuna0aBZ0cm3xpWZpxD+cxJvJu5z7uOqBUAtwJ2yTo3wxt4p/bTbqmRC+Vt03bWqiO9JfVK2p27tC6FJq7B5L0DUICYUhbHMQlDIIFklLj2G33ET8JQ4pfEMvITHoZEsQfykUfiDr+XNrPjf/+BhTM8hCuQ2eB8zsJQfYRcYus6jH0NVVPq2+I46cdfQrKPABVs0e2tF/kY+221VdhyC9mpmqyG6vPQDceoawxzekf3sKC8gGQF+V5TgkTRk4nJ277nTd6nTHoZdBtdJh9nfUpeRlLnnZ6EUvVdmPTFe4xEFzcoZkuly51p65J7ppznZfT/0UNR4py5L2VO58Qqt4RTo5R2tkB9YRCmKUlCCQH3OeVAE74xI1AgUqYkTIjmLGKRwLKxzAjHtji4dSqoGvFXo8upt26lo3kHPr+aP9wjqQwWA+XqwKXbXMg/RzpD/r58dhnMQaRGZ/iOUx3e0m3uHysLkHId5NxnXuytRUjY+RBS6m1HrcN0RvJX7PnYs/kxiExfr2HhgQ9W01dT5cVyeh8k1ybENbJ/gKT9bUFfQ/EvtipMjbRdiqBHCffATgQG5UawGwvijj2DXL09NdUHl8f2h69o7LPhHkv2jn0WDHdC5pOIjagfD/9Yr5ndGQZhvV/Z0couBqY/l7Ypbp8T7hiDbmE310auIxqROI0jAjIG6Wuhr6+NXzyANxN3R6aqzEisyKsU4CR4VnUPCmpo11F0UxldLc1y3i7E/V61Hd5DCWU/5c/mKfQ6Yhf76i9tis1cxiyE1PcD5gsSSQGUs/bkc6PBan1WC3u27rQbZkrSlKmAEZHoiBFNGI83zgStkXaaukYz3Gk6yQMOIcFjmeKUUHTZIPyK0ykqGaciFIESeHoMY0LUw8fEhvL6/4uMO+c6zRWRSkUQE4E+qzn4YuM54OlmYJ3wwxR3AJOn24Gn24Ef4nYgjXw/Jj6PJSFMEy4w4W/MClpSRnzwOVdYAoFqScLv53bgZHXg0rqP7HaAfp7bLICcfKa7PF0EfPWc3UcRoxFAqgIFIgiDKE5EwpdR9NgOjuympQBTSaAkFyqJJMUtKvfJLZbysMWpxy51QlMKWgWCMxFz6YfRt6XhW5WuzOR6N2sqTMtadRB3kWq7ewpl/Z1Usyv31v0+dPoVd9ft5+rTg23qqgCpX0KurzhFoNtArrTacJJo/zHuajKSZvo8doOA+x95ceiYzf4DpQn6qNIeAAA=&quot;"/>
    <we:property name="initialStateBookmark" value="&quot;H4sIAAAAAAAAA+1Z23LbNhD9FQ9f8qLpAARJkH6TbaXNtLaT2E0608l4FhfKSCiC5SWx6tEn9Sv6Y12Q1MXyRXacxE5q6UEkgF0c7NkLAJ17ylRFBtMDmGhv29ux9sMEyg9b1Bt4ed92ePjr/vD1rycHw/0RNtuiNjavvO1zr4ZyrOs3pmogcxqw8c93Aw+y7CWM3VsKWaUHXqHLyuaQmb91Nxi76rLRs4Gnz4rMluBUHtVQa6f2Iw7Hd5yb/sRwRpC1+aiPtKy71ggSFgVcCaaDUPlExCTCYanJapR0GsR0dFaUiOZ8vgoREB0BjTjxua9YEgckQJl6WrjeXZx5bEsjIVsocnrezJH4A+95aSetxt5WExw5ymtTT92LVkbaCpuOW41khnZ4e6pL3Yrs2lyZDj3K29r9OIS6qvrGF/nFtqqXy5pJfnn0kW1KqV/rdPnSIpqhRV+WFu3dohpVhZYG7a5AYR9CegNZ09KEyn8zuEpcsFuna0aBZ0cm3xpWZpxD+cxJvJu5z7uOqBUAtwJ2yTo3wxt4p/bTbqmRC+Vt03bWqiO9JfVK2p27tC6FJq7B5L0DUICYUhbHMQlDIIFklLj2G33ET8JQ4pfEMvITHoZEsQfykUfiDr+XNrPjf/+BhTM8hCuQ2eB8zsJQfYRcYus6jH0NVVPq2+I46cdfQrKPABVs0e2tF/kY+221VdhyC9mpmqyG6vPQDceoawxzekf3sKC8gGQF+V5TgkTRk4nJ277nTd6nTHoZdBtdJh9nfUpeRlLnnZ6EUvVdmPTFe4xEFzcoZkuly51p65J7ppznZfT/0UNR4py5L2VO58Qqt4RTo5R2tkB9YRCmKUlCCQH3OeVAE74xI1AgUqYkTIjmLGKRwLKxzAjHtji4dSqoGvFXo8upt26lo3kHPr+aP9wjqQwWA+XqwKXbXMg/RzpD/r58dhnMQaRGZ/iOUx3e0m3uHysLkHId5NxnXuytRUjY+RBS6m1HrcN0RvJX7PnYs/kxiExfr2HhgQ9W01dT5cVyeh8k1ybENbJ/gKT9bUFfQ/EvtipMjbRdiqBHCffATgQG5UawGwvijj2DXL09NdUHl8f2h69o7LPhHkv2jn0WDHdC5pOIjagfD/9Yr5ndGQZhvV/Z0couBqY/l7Ypbp8T7hiDbmE310auIxqROI0jAjIG6Wuhr6+NXzyANxN3R6aqzEisyKsU4CR4VnUPCmpo11F0UxldLc1y3i7E/V61Hd5DCWU/5c/mKfQ6Yhf76i9tis1cxiyE1PcD5gsSSQGUs/bkc6PBan1WC3u27rQbZkrSlKmAEZHoiBFNGI83zgStkXaaukYz3Gk6yQMOIcFjmeKUUHTZIPyK0ykqGaciFIESeHoMY0LUw8fEhvL6/4uMO+c6zRWRSkUQE4E+qzn4YuM54OlmYJ3wwxR3AJOn24Gn24Ef4nYgjXw/Jj6PJSFMEy4w4W/MClpSRnzwOVdYAoFqScLv53bgZHXg0rqP7HaAfp7bLICcfKa7PF0EfPWc3UcRoxFAqgIFIgiDKE5EwpdR9NgOjuympQBTSaAkFyqJJMUtKvfJLZbysMWpxy51QlMKWgWCMxFz6YfRt6XhW5WuzOR6N2sqTMtadRB3kWq7ewpl/Z1Usyv31v0+dPoVd9ft5+rTg23qqgCpX0KurzhFoNtArrTacJJo/zHuajKSZvo8doOA+x95ceiYzf4DpQn6qNIeAAA=&quot;"/>
    <we:property name="isFooterCollapsed" value="true"/>
    <we:property name="isFiltersActionButtonVisible" value="true"/>
    <we:property name="isVisualContainerHeaderHidden" value="false"/>
    <we:property name="reportEmbeddedTime" value="&quot;2026-03-04T22:04:31.183Z&quot;"/>
    <we:property name="creatorTenantId" value="&quot;8051c068-3df3-4224-b116-3152367abf11&quot;"/>
    <we:property name="creatorUserId" value="&quot;10032003AF12A32E&quot;"/>
    <we:property name="creatorSessionId" value="&quot;3c0c52e3-e4c9-47da-85d7-76b6fdb8125d&quot;"/>
    <we:property name="numberOfAnnotations" value="0"/>
    <we:property name="annotationNoteShown" value="true"/>
  </we:properties>
  <we:bindings/>
  <we:snapshot xmlns:r="http://schemas.openxmlformats.org/officeDocument/2006/relationships" r:embed="rId1"/>
</we:webextension>
</file>

<file path=ppt/webextensions/webextension9.xml><?xml version="1.0" encoding="utf-8"?>
<we:webextension xmlns:we="http://schemas.microsoft.com/office/webextensions/webextension/2010/11" id="{F522D03A-7FFE-45BD-942C-B76AB1D9ECBA}">
  <we:reference id="ad3bb869-dfe9-409b-95f2-98016482b42b" version="2.0.0.3" store="EXCatalog" storeType="EXCatalog"/>
  <we:alternateReferences>
    <we:reference id="wa200003233" version="2.0.0.3" store="en-us" storeType="OMEX"/>
  </we:alternateReferences>
  <we:properties>
    <we:property name="reportUrl" value="&quot;/groups/me/reports/783d045f-b8df-4719-8d17-c1cdae355294/6a93647db3e45d20b806?ctid=8051c068-3df3-4224-b116-3152367abf11&amp;pbi_source=shareVisual&amp;visual=1aa8113888055a04c310&amp;height=232.46&amp;width=609.85&amp;bookmarkGuid=c2f07722-db35-4e27-8667-956bf10aba92&amp;fromEntryPoint=sharevisual&quot;"/>
    <we:property name="artifactName" value="&quot;Card&quot;"/>
    <we:property name="reportName" value="&quot;MedRed Clinic Efficiency&quot;"/>
    <we:property name="reportState" value="&quot;CONNECTED&quot;"/>
    <we:property name="embedUrl" value="&quot;/reportEmbed?reportId=783d045f-b8df-4719-8d17-c1cdae355294&amp;config=eyJjbHVzdGVyVXJsIjoiaHR0cHM6Ly9XQUJJLVNPVVRILUNFTlRSQUwtVVMtQy1QUklNQVJZLXJlZGlyZWN0LmFuYWx5c2lzLndpbmRvd3MubmV0IiwiZW1iZWRGZWF0dXJlcyI6eyJ1c2FnZU1ldHJpY3NWTmV4dCI6dHJ1ZX19&amp;disableSensitivityBanner=true&amp;storytellingAnnotations=true&amp;storytellingChangeViewModeShortcutKeys=true&quot;"/>
    <we:property name="pageName" value="&quot;6a93647db3e45d20b806&quot;"/>
    <we:property name="pageDisplayName" value="&quot;Analisis Ingresos y Duracion&quot;"/>
    <we:property name="datasetId" value="&quot;efa1a7ad-f095-4793-921d-5e4ffa30c731&quot;"/>
    <we:property name="backgroundColor" value="&quot;#1E293B&quot;"/>
    <we:property name="bookmark" value="&quot;H4sIAAAAAAAAA+1a6U4jRxB+FTR/9o8VdU/PyT+uTVCWvSBspAihmu4au3fH05M5WBzkR8pT5MVSPTM2xhyGZVkgAYRwH1X91V3d8pmjdFVkMHkLY3TWnU1jvoyh/LLGnYGTd3MRw1T6kXIDBogyFsgkrZqi1iavnPUzp4ZyiPWhrhrILCOa/ONo4ECWvYehHaWQVThwCiwrk0Om/8JuMy3VZYPTgYOnRWZKsCz3a6jRsj2h7TQmCPwnQSeCrPUJ7qOsu9kAYhF4oUoEer5yWRKxgLalOquJ0nJIJjunRUlozmbCJB7DAHgQMjd0lYgjj3lEU08Ku7pFJw9NqSVkc0aWz+EMiTtwXpdm3HLsVTamnTt5reuJHaDS0lQ0ddByZFPSw6cRltiSbJlc6Q490Zva/rMIsar6yd384lzV02XNOL+8e980pcSPmJ4PWkRT0uj70pC+W1Q7VYFSk94VKFojSIeQNa2ZiPkbTVKSwFZOO00Er/Z1vrZR6WEO5StLcTS1P0edoRYA3ArYJe3cDG/gjMzXrRLJFspZ5+2pVWf01qhXmt26S+tSpOIadN47AAeIOBdRFDHfB+ZJwZmdv9FH3Nj3Jf2ySAZuHPo+U+KRfOSJuMNvpcnM8J+/Ye4Mj+EKbDo4m1lhQ51ALml2GcYeQtWUeFscx/3+S0j2CKCCNb6+tpsPad1Ua4Up18g6VZPVUH0buo0h8RrCzLw799CgvIBkAfl2U4Ik0uOxztu1103ep0x+GXQbXTofZn1KPo+kzjsdCaXqlyjpJ58pEm3cEJkpFZabk9Ylt3U5y8vk/zuPZZJWnJEejjL6a9NrhdkMGMFUUMMeFHahHVeSuO+qTvvjAkpdzWwxG/2qc6uogfMG0/rhHP3jDPDK+OulHGMNVhySI2+y7MjGcZeNzmHtzfecLTjiHZLIHcUgCBLkCFWLfLfGcXeWVmgZaayetdYHzold6x2ICokz32KFn1qOvuenKYt9CV7ohjwEHocrKw4HJmXK/JhhKAIRJNSWnFecA1O8vXWpqZrkzwbLibMchfuzBfr8YfbhHkVrMN8oFzeep6UL9W2/DcPvX70GMxCpxozGdNS7W6al++fiOUi5DHKWk3a3lzKw3/kRmdRZD1qH6ZTkLujzqXcLB5BkeD2HuQc+Ws+4WIovtmv3QXJtwV0y9n+gKfixoK8x8S+mKnRNZrsUQU8S7lszTigoV4Jd2XBtmlPI1aeRrr7YPLa38YFHrtjYFvH2gSu8jU1fuCwQO9yNNn5f7sm6OzLB+rxwY5JdDEx+Lk1TPFzxp9X+NcFSj42y0oy0ouLvtKkuxIAHLEqjgIGMQLqY4PW18bsH8GrD3dFSVaYlVeRFE9Ah5bAVqu/NzpyiO6ptfmZq6dqx6xqPbaJQ5ms+7/auM+z83va9VbHalpHwIXVdT7gJC2QCPBTtzfpGhdV4WifmdNlpV5wUp6lQnmBJjIFgyEQYrTwJWiVtNnVNarjTcTL0QvAZXftVyBknl/X8BzxOcSlCnviJpxIpuB8xph4/JlaU1/9fZNw512GomFQqgIgl5LMYgpusvAe8vDwtG/xdSh3A+OX16eX16Vm8Pq3KCmnguhFzw0gyJpCFCSX8lVkBJRfMBTcMFZVA4CiZ/3xeB44XN55r94m9DvBvc5s5kONvdJeXh4AHz9l9FAkeAKTKU5B4vhdEcRKH51H01C6O4iZRQKjYUzJMVBxITi1q6LJbiPK4xanHLjHmKQdUXhKKJAql6wc/1gw/qnRlOsetrKkoLaPqIG6Rqc3WCMr6mVSzK3vrvg+dPFp33abLq24WpqmrAiS+hxyvuGGQS0GuUK24ZbTfVujqNRlU9znuBgL7HYb5hWQ6/RfP33rpVSEAAA==&quot;"/>
    <we:property name="initialStateBookmark" value="&quot;H4sIAAAAAAAAA+1Z2XLbNhT9FQ9f8qLpAARJkH6TbaXNpLaT2E060/F4LhbKSCiC5ZJY9eiT+hX9sV5Q1GJ5kZckclpLDyIBXODgnrvgQheeMlWRwfgARtrb9nas/TSC8tMW9Xpe3rUdHr7e7797fXrQ3x9gsy1qY/PK277waiiHun5vqgYyNwM2/nHS8yDL3sDQvaWQVbrnFbqsbA6Z+UtPB2NXXTZ60vP0eZHZEtyURzXU2k37GYfjO65Nf2K4IsjafNZHWtbT1ggSFgVcCaaDUPlExCTCYanJapR0M4jx4LwoEc3FbBciIDoCGnHic1+xJA5IgDL1uHC9u7jy0JZGQjafyM3zfobE73kvSztqZ+x0NcKRg7w29di9aGWkrbDpuJ2RTFAPH850qVuRXZsrM0WP8rZ2Pw6hrqqu8VV+ua3q5LJmlF8dfWSbUup3Ol28tIgmqNE3pUV9t6gGVaGlQb0rUNiHkN5D1rQ04eS/Gtwlbtjt0zWjwIsjk2/1KzPMoXzhJE4m7nMyJWoJwJ2AXdHO7fB63pn9sltq5EJ527RdtZqS3pJ6Le3OXFqTQhXXYPLOAChATCmL45iEIZBAMkpc+6024idhKPFLYhn5CQ9DotiGbOSJmMNvpc3s8J+/YW4MmzAFMuldzFjoq8+QS2xdhbGvoWpKfVccp934K0j2EaCCLbq99SofYr+ttgpbbiE7VZPVUD0MXX+Icw1hRu/gERqUl5AsId9rSpAoejoyedv3ssm7kEmvgm69y+TDrAvJC0+aWqcnoVRdFwZ98RE90fkNitlS6XJn3JrknilncRntf7ApSnA7KBMGYZqSJJQQcJ9TDjTha72eApEyJWFCNGcRiwSmhoXXH9vi4M7uXjXiz0aXY29VE0ezDnx+O3t4RODozQfK5YEL07gUY450hhx9/QjSm4FIjc7wHZc6vKNpPN4f5iDlKsiZXbzaW/GCcNIGPaTU244mrm+qJH9Jn089Yh+DyPTNM8wtcGN5ezkcXk6Zj0FyY9BbIfs/EJi/L+gbKP7FVoWpkbYrHvQk4R7YkUCnXAt2bdLbseeQqw9npvrk4th+/y2NfdbfY8nesc+C/k7IfBKxAfXj/u+reXFapyCsj0unVjn1gfHPpW2Ku8eEe/qg21hXyjnpkVVuN2dGKe1MDnu5jmhE4jSOCMgYpK+Fvjk3fnUHXk/cPZmqMiMxIy9TgItgPeoeFNTQ7qOYLmV0tVDLRbsR93vdkXcPJZT9kr+YhdCbiJ2fnb+2KtZzGbMQUt8PmC9IJAVQztrq5laF1fq8FvZ81WjXrJSkKVMBIyLRESOaMB6vXQlaJe00dY1quNdykgccQoKll+KUUDTZIPyGyykqGaciFIESWCGGMSFq8z6xJr3+/zzj3rFOc0WkUhHERKDNag6+WFsHPFf/q4QfpngCGD3fADzfAPwQNwDrokIa+X5MfB5LQpgmXGDAXxsVtKSM+OBzrjAFAtWShD/O7cDp8sCFdp/Y7QB9mNnMgZw+0FyeLwK+eczuvIjRCCBVgQIRhEEUJyLhCy96aoUju20rwFQSKMmFSiJJ8YjKfXKHrWw2OXXYpU5oSkGrQHAmYi79MPq+NHyv1JWZXO9mTYVhWaspxF2k2u6eQVn/INns2rN1dw4db+x03YbL6yoL29RVAVK/gVxfU2GgSUGutFpTZbT/GE/zNRJquhh3i4D7H3lekEwm/wIsR4Bn0h4AAA==&quot;"/>
    <we:property name="isFooterCollapsed" value="true"/>
    <we:property name="isFiltersActionButtonVisible" value="true"/>
    <we:property name="isVisualContainerHeaderHidden" value="false"/>
    <we:property name="reportEmbeddedTime" value="&quot;2026-03-04T22:17:59.255Z&quot;"/>
    <we:property name="creatorTenantId" value="&quot;8051c068-3df3-4224-b116-3152367abf11&quot;"/>
    <we:property name="creatorUserId" value="&quot;10032003AF12A32E&quot;"/>
    <we:property name="creatorSessionId" value="&quot;95ecc9fe-42f3-4b69-8193-559c820b8d3d&quot;"/>
  </we:properties>
  <we:bindings/>
  <we:snapshot xmlns:r="http://schemas.openxmlformats.org/officeDocument/2006/relationships" r:embed="rId1"/>
</we:webextension>
</file>

<file path=ppt/webextensions/webextension10.xml><?xml version="1.0" encoding="utf-8"?>
<we:webextension xmlns:we="http://schemas.microsoft.com/office/webextensions/webextension/2010/11" id="{43FFD0CE-8768-4D97-8323-02A7C0349E52}">
  <we:reference id="ad3bb869-dfe9-409b-95f2-98016482b42b" version="2.0.0.3" store="EXCatalog" storeType="EXCatalog"/>
  <we:alternateReferences>
    <we:reference id="wa200003233" version="2.0.0.3" store="en-us" storeType="OMEX"/>
  </we:alternateReferences>
  <we:properties>
    <we:property name="reportUrl" value="&quot;/groups/me/reports/783d045f-b8df-4719-8d17-c1cdae355294/f653261f3389106303a1?ctid=8051c068-3df3-4224-b116-3152367abf11&amp;pbi_source=shareVisual&amp;visual=2842f7917d76a00eb3de&amp;height=197.70&amp;width=380.69&amp;bookmarkGuid=7990dce3-43cb-48a4-bf53-6425e6625984&amp;fromEntryPoint=sharevisual&quot;"/>
    <we:property name="artifactName" value="&quot;Card&quot;"/>
    <we:property name="reportName" value="&quot;MedRed Clinic Efficiency&quot;"/>
    <we:property name="reportState" value="&quot;CONNECTED&quot;"/>
    <we:property name="embedUrl" value="&quot;/reportEmbed?reportId=783d045f-b8df-4719-8d17-c1cdae355294&amp;config=eyJjbHVzdGVyVXJsIjoiaHR0cHM6Ly9XQUJJLVNPVVRILUNFTlRSQUwtVVMtQy1QUklNQVJZLXJlZGlyZWN0LmFuYWx5c2lzLndpbmRvd3MubmV0IiwiZW1iZWRGZWF0dXJlcyI6eyJ1c2FnZU1ldHJpY3NWTmV4dCI6dHJ1ZX19&amp;disableSensitivityBanner=true&amp;storytellingAnnotations=true&amp;storytellingChangeViewModeShortcutKeys=true&quot;"/>
    <we:property name="pageName" value="&quot;f653261f3389106303a1&quot;"/>
    <we:property name="pageDisplayName" value="&quot;Analisis Especialidad y Alta Medica&quot;"/>
    <we:property name="datasetId" value="&quot;efa1a7ad-f095-4793-921d-5e4ffa30c731&quot;"/>
    <we:property name="backgroundColor" value="&quot;#1E293B&quot;"/>
    <we:property name="bookmark" value="&quot;H4sIAAAAAAAAA+1aS3PbNhD+KxrOdHLRdPDg0zfbcaae1nkpTQ8ZTwcElhISilRJSrGq0Q/qoaf+hPyxLkBSkm1ZklO/ksoHiyAWwLfvXZIzR+lylIrpSzEE58A5yvNPQ1F86lCn62T1PZf5kotEKS+gxI8jFoHC2XxU6TwrnYOZU4miD9V7XY5FajbCmx/Ou45I09eib0aJSEvoOiMoyjwTqf4TamKcqooxzLsOXIzSvBBmy14lKjDbTpAcxwiB/sjxRCErPYEeyKq+m/geZz5NOA8jRMYJFwZ2otMKV5od4unJxahANLOWmdgl4AvqB4QFTPEodImLa6rpyMwe48n9vNBSpIuNzD7vWySs67wo8qHdsRHZEClPskpXUzMApWVe4q13dkcyRzn8NoAC7JLjPFO6Ro/r88r8GIRQls3N0+zyvbJZl46H2XXqXj4uJLyFZDmwiOYo0ddFjvK2qE7KEUiNcldC4RxCei/SsVUTbv6LRi6RYcOnuY0LnvV01jksdT8TxTOz4nxu/s5rRa0A2AnYNelshtd1Bvnn4wJQF8o5oPbUsla6VepatRtzsSaFIq6EzhoDIKEnOfMYo9IVqG8AYk2r1Fk/bYxwubbWmVPBRRXnF8bG4494sNkJMTSeYsiHuTKEA60UZAgZZxlRkDBXEuVz/Oe5gngW7VprXGtv9yDan/JypCvc/apYSS3WTWIoUy3R/FelgMegp5sLJSphORnVh2kol4KZWVbM7zrbeo4rVP45M4ZljWreujYC/7ii6IWR3r0wzrfrk0pKPEUJDUIGngopZ4+vz5f5MMZYstfmiih20GXosiSIaKACXxACMa/52pgpIg+EF3Dh+r6KQ05DX8AjZYp7SQqr3rA9IbTUnV8zbfMy5nydL3LDPWWGDeGrO1vWJ+CGPosIjwWjAZM8YktFHaqJyKStWC4DPCx0NRhCpaU1bUhsNj4DUY4L2BX37w39NeRnyJASHX7Q+aFzmFaic/blL2RRWLq3uj+wp/UkLlAnk1rYlw98ECQWgKnWzOAVLhFVjnbMr2fh7myrRB8E8S3DnhSFaqaupPO8UFAcTa0rPddFW1Wi3z64HiwbAzSKtDWMEtIW0Ic6PJ+JkZmw49Jo7VTVbjYcoSeWrdO1o591ZgTUXRj23fvjwopvFy8adtHzRJN2snGanpsgVIfRJb6zBc1sxdTuqSLooq3IASjLwmkFw/ocjVkEN9FN6vrmRd91JoawMSeysvNleptYzVkBUSKm0qMykGHgy5ixYHvyTCLfBay2fUqiQBEiqb+Mye/y0cuds2Y5jv8YQzF1rjpmr53A6zftxX/Iv90FoVwllGhxY/TXK6m6Zz307ruzbgsi0ZDiGI96tWOkOuz3C+iLtmo4uX0+XoCUV0EeN1I4fW5nXoyzBoVXGxWqtL5uhcRW5Pm0Cp/r3fA7Eadw8w4LC3y0Jni13CGB64YxsIATIiiBkJJwh3LnKSbnZJxl8LQT8w3NTFP+T+8uFV21yq1NTeh6CY85RmXuERGTSADdNzW3amqO0y9/Z8htB00AUjN4Eg2NIqjZKJEEWOwqo13u7xuafUPzLTU0W6OXCtwApAto3B4PCYnJPnp95SOZnh5++SfrHOUYwSYrD+wfM4ZFQlEZ+1j5cyJjCD0ivX0M28ew7ymGxUQFQgIDP5REBi4joW9IN/IuLEtH46pCwLd6w6SAsMBTPGABlVJJ6gYb3jA1fkgFkTIhXkQg4D7349Al+0b8e2/E/X0jfv+NeBwEsaKuJJEbSypCHrMbPyV4rDRM/DBJwpBwwcBjnpRc7tJKPMWkMdKTvKoN5GknjfUPDKzK7/DR9XXneZt/fqyX5cDjgPke1noM21XKeKjcm1PTQ3nIFk/+/70yv/UzpiRkhJsQRz1OfBkp4m3/fOZrKxx74jpR5+OqHGGh9VpksEbkKGqRKVBbxG6/QavZQri6STQbFpgv0xYams//BaUL1UorJwAA&quot;"/>
    <we:property name="initialStateBookmark" value="&quot;H4sIAAAAAAAAA+1aS3PbNhD+KxrOdHLRdPDgS77JjjP1pLJTK00PGU8GBJYSUopUSUqx6tEP6qGn/oT8sS5AUlZkWZJTv5LKB4sAF4tv31iSV47SxTgRs1MxAufAOcyy30ci/71FnbaT1nNnZ6973fPXH067vWOczsalztLCObhySpEPoHyni4lIDAecfH/RdkSSvBEDM4pFUkDbGUNeZKlI9J9QEeOtMp/AvO3A5TjJcmFY9ktRgmE7RXIc4970R447ClnqKfRBltVs7Huc+TTmPOxQ4nPChcEb66TElYZDNDu+HOeI5qqRInIJ+IL6AWEBU7wTusTFNeVsbO4e4c6DLNdSJAtGhs+7BglrO6/ybGQ51roaIeVxWupyZgagtMwKnHprOZI56uG3IeRglxxlqdIVelyflebHIISiqCdP0i/ninpdMhmlN6n72SSXcA7x9cAimqNG3+QZ6tuiOi7GIDXqXQmF9xDSO5FMrJmQ+c8apUSBjZxmGhe86Ou01S30IBX5C7PiYm7+LipDLQHYCdgN7WyG13aG2aejHNAWyjmgdteiMro16lqzG3exLoUqLoVOawcgoSc58xij0hVobwBiXavQ6SCpnfB6bWUzp4TLMsoujY9HH3Fjwwkx1CFiyEeZMoRDrRSkCBnvMqIgZq4kyuf4z3MF8Szatd641t8eQLU/ZcVYl8h9Va2kUusmNRSJluj+y1rAbTDSzYUSpbCSjKvNNBTXirmyopjfdb71Eleo7FNqHMs61bwJbQT+ccnQCye9f2VcbLcnlZR4ihIahAw8FVLOnt6ep9kowlyyt+aSKnawZeiyOOjQQAW+IAQiXsm1sVJ0PBBewIXr+yoKOQ19AU9UKR6kKCxHw/aC0FC3fk21rctY83W2qA0PVBk2pK/2wlAuAzf0WYfwSDAaMMk77NpQXTUVqcQ1qwC7uS6HIyi1tK4Nsa3GPRDFJIddcX+o6W8g76FASrT4QeuHVjcpRav3+S8UUVi6cz0Y2t36Eheo42ml7C83fBQkFoA5rZnBGS4RZYZ+zG9W4fbVVo0+CuI7pj0pclXfWinnWa4gP5zZUHqp8+ZUiXH76HawYgzRKZLGMQpIGkDvq/TcE2Nzw44LY7UTVYXZaIyRWDRB14xe69QoqL1w7PuPx4UX3y1f1OJi5Im67KSTJLkwSahKo9f4eguaqyVXe6ATQRt9RQ5BWRFOShhV+2isIshE16Xrm1d925kawtqdyBLnL+ltYTV7BUSJiEqPykCGgS8jxoLtxTPu+C7gadunpBMoQiT1r3Py22x8unPVLCbRHxPIZ85qYPabG3j9S3PxH+pve0EolwkletwE43WlVPdthN5/d9ZuQMQaEhzjVmc7ZqruYJDDQDSnhuO71+MFSLkK8qjWwslLe+fVJK1ReJVToUmr60ZJbEmfz+vgc7MbfiuiBG7nsPDAJ2uCl487JHDdMAIWcEIEJRBSEu5w3HmOxTmepCk878J8SzNTH/9n91eKVr1ya1MTul7MI45ZmXtERKQjgO6bmjs1NUfJ579TlLaFLgCJGTyLhkYRtGwnlgRY5CpjXe7vG5p9Q/MtNTRbs5cK3ACkC+jcHg8Jicg+e33lI5m+Hn3+J20dZpjBpksP7J8yh3WEojLy8eTPiYwg9Ij09jlsn8O+pxwWERUICQz8UBIZuIyEviHdKLuwIh1OyhIB3+kNkwLCAk/xgAVUSiWpG2x4w1THIRVEyph4HQIB97kfhS7ZN+LfeyPu7xvxh2/EoyCIFHUl6biRpCLkEbv1U4KnKsPED+M4DAkXDDzmScnlLq3EcywaYz3NyspBnnfRWP/AwJr8Hh9d3wye8+zTU70sBx4FzPfwrMewXaWMh8q9vTQ9VoRsieT/3yvzOz9jikNGuElx1OPElx1FvO2fz3ztCcfuuE7V2aQsxnjQeiNSWKNyVLVIFagtarffoFViIVxdF5oNC8yXaQsLzef/AoBm7GYkJwAA&quot;"/>
    <we:property name="isFooterCollapsed" value="true"/>
    <we:property name="isFiltersActionButtonVisible" value="true"/>
    <we:property name="isVisualContainerHeaderHidden" value="false"/>
    <we:property name="reportEmbeddedTime" value="&quot;2026-03-04T22:18:34.752Z&quot;"/>
    <we:property name="creatorTenantId" value="&quot;8051c068-3df3-4224-b116-3152367abf11&quot;"/>
    <we:property name="creatorUserId" value="&quot;10032003AF12A32E&quot;"/>
    <we:property name="creatorSessionId" value="&quot;55870125-7478-401f-9b82-3154363928cf&quot;"/>
  </we:properties>
  <we:bindings/>
  <we:snapshot xmlns:r="http://schemas.openxmlformats.org/officeDocument/2006/relationships" r:embed="rId1"/>
</we:webextension>
</file>

<file path=ppt/webextensions/webextension11.xml><?xml version="1.0" encoding="utf-8"?>
<we:webextension xmlns:we="http://schemas.microsoft.com/office/webextensions/webextension/2010/11" id="{06FC380B-B55D-4372-A405-BA5D60F9AD2D}">
  <we:reference id="ad3bb869-dfe9-409b-95f2-98016482b42b" version="2.0.0.3" store="EXCatalog" storeType="EXCatalog"/>
  <we:alternateReferences>
    <we:reference id="wa200003233" version="2.0.0.3" store="en-us" storeType="OMEX"/>
  </we:alternateReferences>
  <we:properties>
    <we:property name="reportUrl" value="&quot;/groups/me/reports/783d045f-b8df-4719-8d17-c1cdae355294/2c8ce66afd415d22b6a8?ctid=8051c068-3df3-4224-b116-3152367abf11&amp;pbi_source=shareVisual&amp;visual=8de9e86c288e18b09c3e&amp;height=191.22&amp;width=742.44&amp;bookmarkGuid=1588b92c-8632-4f11-a354-ffddb8ef2745&amp;fromEntryPoint=sharevisual&quot;"/>
    <we:property name="artifactName" value="&quot;Dra. Fabiola Molina lidera con 21.5M y Dra. Valentina Lopez con ingresos similares con 20.9M&quot;"/>
    <we:property name="reportName" value="&quot;MedRed Clinic Efficiency&quot;"/>
    <we:property name="reportState" value="&quot;CONNECTED&quot;"/>
    <we:property name="embedUrl" value="&quot;/reportEmbed?reportId=783d045f-b8df-4719-8d17-c1cdae355294&amp;config=eyJjbHVzdGVyVXJsIjoiaHR0cHM6Ly9XQUJJLVNPVVRILUNFTlRSQUwtVVMtQy1QUklNQVJZLXJlZGlyZWN0LmFuYWx5c2lzLndpbmRvd3MubmV0IiwiZW1iZWRGZWF0dXJlcyI6eyJ1c2FnZU1ldHJpY3NWTmV4dCI6dHJ1ZX19&amp;disableSensitivityBanner=true&amp;storytellingAnnotations=true&amp;storytellingChangeViewModeShortcutKeys=true&quot;"/>
    <we:property name="pageName" value="&quot;2c8ce66afd415d22b6a8&quot;"/>
    <we:property name="pageDisplayName" value="&quot;Situacion Actual&quot;"/>
    <we:property name="datasetId" value="&quot;efa1a7ad-f095-4793-921d-5e4ffa30c731&quot;"/>
    <we:property name="backgroundColor" value="&quot;#1E293B&quot;"/>
    <we:property name="bookmark" value="&quot;H4sIAAAAAAAAA+1a6W7bRhB+FUFAkT9CsQePpf/5Chogh2sF6Y/CMGZ3RzJjilTJlRPX8Iv0DfocebHOUpIl25LoOLKlGjEQR9zd2bm/maF11bZpNczg8j0MsL3T3iuK8wGU5y3e7rTz8RoLNU8ETzQw+i0Ugolptxi6tMir9s5V20HZR/cprUaQ+Yto8c+TThuy7Aj6/qkHWYWd9hDLqsghS//G8WHacuUIrztt/DrMihL8lV0HDv21F3ScnkkE/qskjmBceoFdNG68KowyGEXQswEPrRA6AkXHemnmiNLfoC8Pvw5LkuZqqowOGEbAo5iJWFiZqIAFROMuh353nzj3izI1kN1c5O/5NJVEdNqvy2JQ3zgx2YBOHuYudZf+AW1qioqWPtY3smuywx9nWGJNsl/kNh1LT/SF8/95CbGqJotv8ttr1YQuGw3y+6e7xag0eIy92UMt0TVZ9KgsyN61VIfVEE1KdrdgaY9E+gTZqHYTXf42JS1JYa+nXyaCV900b+1WaT+H8pWnOLn2PydjR80J8CDB7llntXid9lnxZb9E8oVt7/CaazV2eu3UhW734VKHFJnYQZpPAoBhCDbkGATacMYUstD49SrN+9kkCGe0Y5+1HX51uvjqY1x/Jsb+JpJhkin++KCw/uBZai3mJDLtCmNl1GOxYlxCwEBGSeyProzG2Ooe09rEMWqm4yDBMJpF4669gNyQEe5afbdM3dkAXVrr8hZ7dSC9Q6hGJT7UGaeT8/fc8Y68ZKEld1q/tHYzB6133/4lv0F97jjtn9XcuoYI7OHF2H63GT6LJLUAHmj8wwciAVeQceX9AOpcNVr0WSSel4qNw3pVGBoo7WTrTiQWpcVy77KOpIO0nAIigdOz+8GDyerEkIIzyVgQMxMlFkNpknB5YiwE4ifAnPfFQJNlHuGWKksNVYV5lxATKoD+gwUHtR7DMasUq5lZrmpF6pRdALkHRGGLL7nH2xprr6cVj8T+PId/N9i9blOcNIKcDLUwoccpywwXjGsdN8JpOqAm4PvAVBJQQy8JwygQgUykECgbY2Y5XPb7JfZhWncPfyCaDPlgRBlwz4gHoxIMkZ4O0rzeez3KJ2nJN5L7m1f6AdCguYgwkpKHDJUOOCbwFOEUBsBFj0meWK0SDkxpbOQDtSZ7I+dIn+9iFwXGaBFzg1yAYlrGWm8e8X4rqmHq6PafmHfLGM2oR/MCi21kJdoQ0AANQ6axtUPLY8mQWQpxLsKIQaB+tnY/W7uX1NrFiYwEBvQPOAKNVizmzTNPiEL1bKwZKCmMYBpe/gQ+jzdbNn2vqAudG6cJxZgNAw2cMysQmWHJjznNzDtt1mFs1G3mrm2OsRbLFg/z2xqdtbTnmhdpgb+2oRc+oqYQc4dvDu40heEjoPJslNsS7RGSBLnrOjDnaPeg3D+D0m1zc7zKCj6YFvY5k0y63FCnE/cCTGKuQsYUU4pJPZ671t2QK4sJqsgIpZArzRIjsbFwgJaEPywIkpDrSHFFcDTDoI/F8P2Dwaca6b9GSGa+Gxjd6QZ9/n364QdqT+fm4On8wVk5voV3XczIguuoN9OZvjNl30sxs23P5MNaO4wbEU6XdBZ8p/Ump2yriqo1LMrW/ly+eHHIb+OUmFpCzBnt0ZX9SYr47EUJiQA6w+W0NwH2lJV76TusZ+yKjyE/J3DYrBAPCLXNSxfstKYloWp9+yf3Hq3FHHfci+p5Y3F0PgoP7/2lYkNDxOpUr3EfmcSIG6ZMJMPIBDyMluP+NvQyUx3uVXHxYt/qrVK5eSZMYhBgTEQjQiBRAjcJa3Tx+l5+PapvfsHvvx5kj+bGEII4soE2YFjEIA4iFq/46+YW4/7/79VMUwPV4LhQBoGMk8gqyZIArZXNjttwOm7JGLsUBx8zxtoiH7mtn1lXqfwUM+ua0MmKHgiDoVUiIXRKOIZbgE7zX2tp+TFnrWjUYJFERIAxkzRgK6ONotx/ikEeQ0V3x8pYxqkw2CAQyfr51KwWld5i5KohGDyCHBeUYPIr5NabemUZrr+dNtaH5Ewng90KAv+dtZuKfX39HwyvF+FFJwAA&quot;"/>
    <we:property name="initialStateBookmark" value="&quot;H4sIAAAAAAAAA+1a6W7bRhB+FYFAkT9CsQePpf/5ChokPmoF6Y/CMGZ3RzJjilRJKrFr+EX6Bn2OvFhnKcmSbUl0HNlSjRgwLO7u7NzfzNC69mxSDlK4OoQ+elveTp5f9KG4aHGv7WXjtaOj9wfbJ+/PDrcP9mk5H1RJnpXe1rVXQdHD6lNSDiF1N9Din6dtD9L0GHruqQtpiW1vgEWZZ5Amf+PoMG1VxRBv2h5eDtK8AHdlp4IK3bVf6Dg9E2/+qySOYKrkC3bQVKNVYZTBMISu9XlghdAhKDrWTdKKKN0N+mr/clCQNNcTLbTPMAQeRkxEwspY+cwnmupq4HZ3iXMvLxID6e1F7p5PE0lE23tb5P36xrGt+nRyP6uS6so9oE1MXtLSx/pGdkN2+OMcC6xJdvPMJiPpiT6v3B8nIZblePFddnetHNOlw3728HQnHxYGT7A7fagluiGLHhc52buWar8coEnI7hYs7ZFInyAd1m6iyz8kpCUp7PR0y0TwppNkre0y6WVQvHEUpzfu53TkqBkBHiXYA+ssF6/tnedfdwskX1hvi9dcy5HTa6fOdbsLlzqkyMQVJNk4ABgGYAOOvq8NZ0whC4xbL5Osl46DcEo78plX4WWl80sX4/ozMXY3kQzjFHHH+7l1B88TazEjkWlXGCvDLosU4xJ8BjKMI3d0aTRGVneZ1iaKUDMd+TEG4TQat+0XyAwZ4b7Vt4ukOu9jldS6fMBuHUgHCOWwwMc642x8/oE7DshLFlpyq/VLazutoHXw7V/yG9TnTpLeec2tY4jA7n8Z2e8uwxeRpBbAAY17OCISqHIyrnwYQO3rRou+iMSzUrFRWC8LQwOFHW/di8S8sFjsXNWRtJcUE0AkcHpxPzgwWZ4YUnAmGfMjZsLYYiBNHCxOjLlA/AyYc5j3NVnmCW4p08RQVZh1CTGhAug+WKig1mMwYpVgOTXLda1InbJzIHePKGz+NXN4W2PtzaTikdifZ/DvFrtXbYrTRpCTgRYmcDhlmeGCca2jRjhN+tQEfB+YSgJq6MZBEPrCl7EUAmVjzCyGy16vwB5M6u7+D0STIR8MKQMeGHFvWIAh0rN+ktV7b4fZOC35WnJ//Uo/Aho0FyGGUvKAodI+xxieI5wCH7joMsljq1XMgSmNjXyg1mRnWFWkz3exC31jtIi4QS5AMS0jrdePeL/l5SCp6PafmHfHGM2oR/MCi2xoJdoA0EAsuGls7dDySDJklkKciyBk4Kufrd3P1u41tXZRLEOBPv0CR6DRikW8eeYJUKiujTQDJYURTMPrn8Bn8WbDpu8ldaF96zShGLOBr4FzZgUiMyz+MaeZWadNO4y1us3ct80J1mLZ/HF+W6GzFvZcsyLN8dcm9MLH1BRiVuG7vXtNYfAEqDwfZrZAe4wkQVZ1KjAXaHeg2D2Hotrk5niZFVwwze1zxpl0taZOJ+r6GEdcBYwpphSTejR3rbohVxZjVKERSiFXmsVGYmPhAC0Jf5jvxwHXoeKK4GiKQR/zweGjwacc6r+GSGa+HxidyQZ9/n3y4QdqT/v24NnswWk5voN3HUzJgquoN5OZvj1h300wtZ5jcrTSDuNWhLMFnQXfar3LKNvKvGwN8qK1O5MvThzy2yglJpYQM0Z7cmV/liI+fVFCIoBOcTHtbYA9Z+Ve+A7rBbviE8guCBzWK8QjQm390vlbrUlJKFvf/smcR2sxRx33vHreWBwrF4X7D/5TsaYhYnmq17iPTGLIDVMmlEFofB6Ei3F/E3qZiQ4Pqrh4tW/1lqncPBPGEQgwJqQRwZcogZuYNbp4dS+/ntQ3v+L3X4+yR3NjCH4UWl8bMCxkEPkhi5b8d3ODcf//92qmqYFqcFwgfV9GcWiVZLGP1spmx605HTdkjF2Ig08ZY22eDauNn1mXqfwcM+uK0MmKLgiDgVUiJnSKOQYbgE6zX2tpuTFnpWjUYJFYhIARkzRgK6ONotx/jkEeA0V3R8pYxqkwWN8X8er51Kzmld58WJUDMHgMGc4pweRXyKwz9dIyXH87baQPyZmMB7slBO47a7cV++bmPz6TO20+JwAA&quot;"/>
    <we:property name="isFooterCollapsed" value="true"/>
    <we:property name="isFiltersActionButtonVisible" value="true"/>
    <we:property name="isVisualContainerHeaderHidden" value="false"/>
    <we:property name="reportEmbeddedTime" value="&quot;2026-03-04T22:21:20.196Z&quot;"/>
    <we:property name="creatorTenantId" value="&quot;8051c068-3df3-4224-b116-3152367abf11&quot;"/>
    <we:property name="creatorUserId" value="&quot;10032003AF12A32E&quot;"/>
    <we:property name="creatorSessionId" value="&quot;1da4e111-7126-45a1-b88b-2e6b13878991&quot;"/>
  </we:properties>
  <we:bindings/>
  <we:snapshot xmlns:r="http://schemas.openxmlformats.org/officeDocument/2006/relationships" r:embed="rId1"/>
</we:webextension>
</file>

<file path=ppt/webextensions/webextension12.xml><?xml version="1.0" encoding="utf-8"?>
<we:webextension xmlns:we="http://schemas.microsoft.com/office/webextensions/webextension/2010/11" id="{66E693A4-580F-4D60-8253-91B643548374}">
  <we:reference id="ad3bb869-dfe9-409b-95f2-98016482b42b" version="2.0.0.3" store="EXCatalog" storeType="EXCatalog"/>
  <we:alternateReferences>
    <we:reference id="wa200003233" version="2.0.0.3" store="en-us" storeType="OMEX"/>
  </we:alternateReferences>
  <we:properties>
    <we:property name="reportUrl" value="&quot;/groups/me/reports/783d045f-b8df-4719-8d17-c1cdae355294/3e890de6071501660040?ctid=8051c068-3df3-4224-b116-3152367abf11&amp;pbi_source=shareVisual&amp;visual=532118fca3c4ca02e515&amp;height=219.77&amp;width=920.46&amp;bookmarkGuid=51260bd3-674e-4e0d-b058-31e2962b03f0&amp;fromEntryPoint=sharevisual&quot;"/>
    <we:property name="artifactName" value="&quot;Posible Redistribución de Medicos por Desempeño en % de Alta &quot;"/>
    <we:property name="reportName" value="&quot;MedRed Clinic Efficiency&quot;"/>
    <we:property name="reportState" value="&quot;CONNECTED&quot;"/>
    <we:property name="embedUrl" value="&quot;/reportEmbed?reportId=783d045f-b8df-4719-8d17-c1cdae355294&amp;config=eyJjbHVzdGVyVXJsIjoiaHR0cHM6Ly9XQUJJLVNPVVRILUNFTlRSQUwtVVMtQy1QUklNQVJZLXJlZGlyZWN0LmFuYWx5c2lzLndpbmRvd3MubmV0IiwiZW1iZWRGZWF0dXJlcyI6eyJ1c2FnZU1ldHJpY3NWTmV4dCI6dHJ1ZX19&amp;disableSensitivityBanner=true&amp;storytellingAnnotations=true&amp;storytellingChangeViewModeShortcutKeys=true&quot;"/>
    <we:property name="pageName" value="&quot;3e890de6071501660040&quot;"/>
    <we:property name="pageDisplayName" value="&quot;Recomendaciones&quot;"/>
    <we:property name="datasetId" value="&quot;efa1a7ad-f095-4793-921d-5e4ffa30c731&quot;"/>
    <we:property name="backgroundColor" value="&quot;#1E293B&quot;"/>
    <we:property name="bookmark" value="&quot;H4sIAAAAAAAAA+1a3U4jNxR+ldFIFTdRZc//5A4C2662/HRB9KJC6IztBO9O7HTGw5KivEjfoBd71UfgxXo8mYQA+VuWBZYFhDJj+9jH5zs/n00uXS7LQQ7DPegLt+1uaf2xD8VHh7otVzVt+/vvdjffvzvd29zdwWY9MFKr0m1fugaKnjDHsqwgtzNg458nLRfy/AB69q0LeSla7kAUpVaQy7/FeDB2maISo5YrLga5LsBOeWjACDvtOQ7Hd1yb/uzjisCMPBeHgplxqy+SlHARkZiGhEYRIQHBYV2ZG5S0M2TDnYtBgdpcTnaRBUREQKOYeLHH/TQJSIAyZjiwvR1cuacLySCfTmTnOZ5o4rXcN4Xu1zM2turjyB1lpBnaF8El0yU2HdUzkhHa4Y8zUYhapKMVl2PtUV4b+2E1FGXZNL5VN9vKRi6v+uru6ENdFUy8F93rl1qjEVr0oNBo71qrnXIgmES7c+DYhyodQ17VMOHkv0ncJW7Y7tM2o8DGoVTOZil7CooNK3Eysj8nY6BmFFhLsTvWWa5eyz3TnzqFQCy426b1quUY9BrUubBj+1Lcgyj0A8h4RikQEfhJFPFX3J897ud1mkDzGZCqAZcEWZIGPogwjkMWi5iF8Ur8gYuA0YTHPg/TzKfMg/Aa/yM92Fsb+LLK/qpEMbT439z8pAOff588fIULtaYDT2cHnu4KKCtc96a3HYocg+Th3aY1UaIrRY7vuNR+wUWxNazX2pbFJCHT2wZpFF1XkdPbiuyiSTg4tO28VT0U16Uz0IWD7lBWuQHrUFYdRM9tRyMrPLaHN2O6e4fpI0XkEWS5WDzD1NmeLBBrP2ziZJOfg2LCZk5xD6TnuPAtTY60gdzZvfr3Ws8n02UN73t67YK2cwBMCmVE6Vz9o6zZajUbG85Rsq6nUvXyhoTVVKt+GgeFm2Oq7eRViblQ8LGDdXQ/050zKIxlftkHDHmbaHEmPT8XePfLBQ+Cig2rMVdEuQ8zzKEp88P1I/kLI8eatmHSVrqvubXnmeRcKLdOUDT0sGglcRbzmIjQ9+MUFhevufTkGySAPYQXsbmHr5S5ZFgyZ50CF8HjgH3gYKDex2C8lBTltVku643Yz3lEZBsluP6kNiaJb7QA0ymjeWhTrMYy9D1Kky4DnwUMiCdCGq4mIl7iE+oFqRfHEJEoyET2SkTmV8sJFutTkHumnZUUxG87PzmbmF+avArfH/W4duznQToW5pzWNFZYzEjo2T8fST9Duh+nL/7Q9qsuBxJZ0HoHtk5+9RmLPvql4CK3L/W5rbVg+GRy51D2r/5TzpZGkfPHOOzNbGsx4NBNwzgkCHcqktijPMjiJwL8mRzIO7KoelefwflFKNu5FF2brJhUgNQIOxVMUX2yc8Pk9iWgSURSigEdhR6FMCT+Na6PxZXnJfHFDP6bk64DXUpMw840JrdFaaS6F2U3NqHvXDwTcj6/WtqxCYEkRb4U0YCHGSdpzLOnp79LctOPR4Bn689KCpykccKiiECUcqzTQZTxYCUF5kD9kKddL8NEQBmhzPdefFn/nu9iX69dHvSCarOH++rBxAd3vgJNdsMqM3puVwUwFD3tS1X3vanU5Jr2pV0J3cHkOV8AJUx44CVRGIQkESxJfX/Jf68eqwKuCP8frwp+Ma5ZmOAvJRBGDKKYJEnm26FLzQb1BrYqY1DFW1G0fDlGw8RP0iQjgCwqSwOONXTVckZcmEzfYYnLVqoXmweqrkw5ACYOQIk54CKooLj1nqUA118MGO8INZXNrcQSAft1gakvjEb/A2x43Nq5IAAA&quot;"/>
    <we:property name="initialStateBookmark" value="&quot;H4sIAAAAAAAAA+1a3U4jNxR+ldFIFTdRZc//5A4C2662/HRB9KJC6IztBO9O7HTGw5KivEjfoBd71UfgxXo8mYQA+VuWBZYFhDJj+9jH5zs/n00uXS7LQQ7DPegLt+1uaf2xD8VHh7otVzVt+/vvdjffvzvd29zdwWY9MFKr0m1fugaKnjDHsqwgtzNg458nLRfy/AB69q0LeSla7kAUpVaQy7/FeDB2maISo5YrLga5LsBOeWjACDvtOQ7Hd1yb/uzjisCMPBeHgplxqy+SlHARkZiGhEYRIQHBYV2ZG5S0M2TDnYtBgdpcTnaRBUREQKOYeLHH/TQJSIAyZjiwvR1cuacLySCfTmTnOZ5o4rXcN4Xu1zM2turjyB1lpBnaF8El0yU2HdUzkhHa4Y8zUYhapKMVl2PtUV4b+2E1FGXZNL5VN9vKRi6v+uru6ENdFUy8F93rl1qjEVr0oNBo71qrnXIgmES7c+DYhyodQ17VMOHkv0ncJW7Y7tM2o8DGoVTOZil7CooNK3Eysj8nY6BmFFhLsTvWWa5eyz3TnzqFQCy426b1quUY9BrUubBj+1Lcgyj0A8h4RikQEfhJFPFX3J897ud1mkDzGZCqAZcEWZIGPogwjkMWi5iF8Ur8gYuA0YTHPg/TzKfMg/Aa/yM92Fsb+LLK/qpEMbT439z8pAOff588fIULtaYDT2cHnu4KKCtc96a3HYocg+Th3aY1UaIrRY7vuNR+wUWxNazX2pbFJCHT2wZpFF1XkdPbiuyiSTg4tO28VT0U16Uz0IWD7lBWuQHrUFYdRM9tRyMrPLaHN2O6e4fpI0XkEWS5WDzD1NmeLBBrP2ziZJOfg2LCZk5xD6TnuPAtTY60gdzZvfr3Ws8n02UN73t67YK2cwBMCmVE6Vz9o6zZajUbG85Rsq6nUvXyhoTVVKt+GgeFm2Oq7eRViblQ8LGDdXQ/050zKIxlftkHDHmbaHEmPT8XePfLBQ+Cig2rMVdEuQ8zzKEp88P1I/kLI8eatmHSVrqvubXnmeRcKLdOUDT0sGglcRbzmIjQ9+MUFhevufTkGySAPYQXsbmHr5S5ZFgyZ50CF8HjgH3gYKDex2C8lBTltVku643Yz3lEZBsluP6kNiaJb7QA0ymjeWhTrMYy9D1Kky4DnwUMiCdCGq4mIl7iE+oFqRfHEJEoyET2SkTmV8sJFutTkHumnZUUxG87PzmbmF+avArfH/W4duznQToW5pzWNFZYzEjo2T8fST9Duh+nL/7Q9qsuBxJZ0HoHtk5+9RmLPvql4CK3L/W5rbVg+GRy51D2r/5TzpZGkfPHOOzNbGsx4NBNwzgkCHcqktijPMjiJwL8mRzIO7KoelefwflFKNu5FF2brJhUgNQIOxVMUX2yc8Pk9iWgSURSigEdhR6FMCT+Na6PxZXnJfHFDP6bk64DXUpMw840JrdFaaS6F2U3NqHvXDwTcj6/WtqxCYEkRb4U0YCHGSdpzLOnp79LctOPR4Bn689KCpykccKiiECUcqzTQZTxYCUF5kD9kKddL8NEQBmhzPdefFn/nu9iX69dHvSCarOH++rBxAd3vgJNdsMqM3puVwUwFD3tS1X3vanU5Jr2pV0J3cHkOV8AJUx44CVRGIQkESxJfX/Jf68eqwKuCP8frwp+Ma5ZmOAvJRBGDKKYJEnm26FLzQb1BrYqY1DFW1G0fDlGw8RP0iQjgCwqSwOONXTVckZcmEzfYYnLVqoXmweqrkw5ACYOQIk54CKooLj1nqUA118MGO8INZXNrcQSAft1gakvjEb/A2x43Nq5IAAA&quot;"/>
    <we:property name="isFooterCollapsed" value="true"/>
    <we:property name="isFiltersActionButtonVisible" value="true"/>
    <we:property name="isVisualContainerHeaderHidden" value="false"/>
    <we:property name="reportEmbeddedTime" value="&quot;2026-03-04T22:09:09.743Z&quot;"/>
    <we:property name="creatorTenantId" value="&quot;8051c068-3df3-4224-b116-3152367abf11&quot;"/>
    <we:property name="creatorUserId" value="&quot;10032003AF12A32E&quot;"/>
    <we:property name="creatorSessionId" value="&quot;cb838630-e465-4703-85e1-7b61a5722304&quot;"/>
  </we:properties>
  <we:bindings/>
  <we:snapshot xmlns:r="http://schemas.openxmlformats.org/officeDocument/2006/relationships" r:embed="rId1"/>
</we:webextension>
</file>

<file path=ppt/webextensions/webextension13.xml><?xml version="1.0" encoding="utf-8"?>
<we:webextension xmlns:we="http://schemas.microsoft.com/office/webextensions/webextension/2010/11" id="{56582E2F-B638-40AC-AB1A-C1FDCECC3857}">
  <we:reference id="ad3bb869-dfe9-409b-95f2-98016482b42b" version="2.0.0.3" store="EXCatalog" storeType="EXCatalog"/>
  <we:alternateReferences>
    <we:reference id="wa200003233" version="2.0.0.3" store="en-us" storeType="OMEX"/>
  </we:alternateReferences>
  <we:properties>
    <we:property name="reportUrl" value="&quot;/groups/me/reports/783d045f-b8df-4719-8d17-c1cdae355294/3e890de6071501660040?ctid=8051c068-3df3-4224-b116-3152367abf11&amp;pbi_source=shareVisual&amp;visual=04b8943ae5775c7e7c57&amp;height=320.00&amp;width=629.89&amp;bookmarkGuid=b442faa1-1db6-4a30-8898-da9a392974ee&amp;fromEntryPoint=sharevisual&quot;"/>
    <we:property name="artifactName" value="&quot;Investigar Rentabilidad de Especialidades con Ingresos Bajos &quot;"/>
    <we:property name="reportName" value="&quot;MedRed Clinic Efficiency&quot;"/>
    <we:property name="reportState" value="&quot;CONNECTED&quot;"/>
    <we:property name="embedUrl" value="&quot;/reportEmbed?reportId=783d045f-b8df-4719-8d17-c1cdae355294&amp;config=eyJjbHVzdGVyVXJsIjoiaHR0cHM6Ly9XQUJJLVNPVVRILUNFTlRSQUwtVVMtQy1QUklNQVJZLXJlZGlyZWN0LmFuYWx5c2lzLndpbmRvd3MubmV0IiwiZW1iZWRGZWF0dXJlcyI6eyJ1c2FnZU1ldHJpY3NWTmV4dCI6dHJ1ZX19&amp;disableSensitivityBanner=true&amp;storytellingAnnotations=true&amp;storytellingChangeViewModeShortcutKeys=true&quot;"/>
    <we:property name="pageName" value="&quot;3e890de6071501660040&quot;"/>
    <we:property name="pageDisplayName" value="&quot;Recomendaciones&quot;"/>
    <we:property name="datasetId" value="&quot;efa1a7ad-f095-4793-921d-5e4ffa30c731&quot;"/>
    <we:property name="backgroundColor" value="&quot;#1E293B&quot;"/>
    <we:property name="bookmark" value="&quot;H4sIAAAAAAAAA+1a224bNxD9lcUCRV6Egtz76s2WnTZI7bixkT4UhjFLjmQmq6W6y3WsBvqR/kEf8tRP8I91uLpYtnWL41jOxYahXZJDDufM5ZDWB1eqapDD8BD66LbdXa3f9aF853C35RaTtlevXh7svH55drhzsE/NemCULiq3/cE1UPbQvFFVDbmdgRr/PG25kOdH0LNvXcgrbLkDLCtdQK7+xvFg6jJljaOWi5eDXJdgpzw2YNBOe0HD6Z3W5j/7tCIIoy7wGIUZt/qYpExixGIeMh5FjAWMhnVVbkjSzpAN9y8HJWnzYbqLLGAYAY9i5sWe9NMkYAHJmOHA9nZo5Z4ulYB8NpGd581UE6/lPi91v5lxYqs+jdwvjDJD+4JSCV1R00kzIxuRHf44xxIbkY4upBprT/La2A+rIVbVpPFFcbOtmsjldb+4O/pY16XA19i9fmk0GpFFj0pN9m602q8GKBTZXYKkPlLpDeR1AxNN/puiXdKG7T5tMwk8O1aFs1OpXgHlMytxOrI/p2Og5hTYSLE71lmtXss91+87JRIW0m3zZtVqDHoD6kLYqX0l7kEU+gFkMuMcGAZ+EkXyB+5PHveLJk2Q+QyoYgIuC7IkDXzAMI5DEWMswngt/iAxEDyRsS/DNPO58CC8xv9EDw43Br6qs79qLIcW/5ubn3bQ8+/Th89wodZs4Nn8wLMDhKqmdW962zHmFCQP7zatqRJdhTm901KvSonl7rBZa0+V04TMbxtkouimipzdVuSATCLB4W3nRdEjcV05A1065A5VnRuwDmXVIfTcdjSywmN7eHOmu3eYPlJEnkCW4/IZZs62tUBs/HASJzvyAgqBNnPiPZBe4MK3NDnRBnLn4Orfaz23pssG3rd97YK2cwRCYWGwcq7+KazZGjUnNlygZFNPVdHLJySsoVrN0zgo3JxSbSevK8qFKMcO1tH9THfOoTSW+WVvKeRtoqWZ9OJc4N0vFzwIKjasxlyR5N7OMYdJmR9uHsmfGDmnTRLioUeFKYmzWMYMQ9+PU1heoBZSkC8Q5IcEIdn/Hv5Q5UpQWZwHnhYhym8fJBho9jEYL6Vw3K9l043NNheTjT2SkPp98Wya3EZLcJuxloc2hd365ORzrbR7rqTEwm2wDH2P86QrwBeBAOZhyMP1ZMNLfMa9IPXiGCIWBRlmP8jG4oo4xWJzmnHP1LKWZvht5ydnh3LIJHfC10cvrh37aRCLpTmnNYsVEQsWevbPJ2IviNLH6Td/MPtVVwNFTGezQ1knv/pIhZ38EiXm9qU5m7WWDJ9O7hyr/tV/hbOrSeTiMQ50c9taDjh00zAOGcGdYhJ7XAZZvCXAn8ihu6PKunf1EZxfsLCdK9G1yUqoAoj+UGcBM1S3djaY3rAEPIlYyimgo9DjEIbMv8b1sfjwoiS+nKV/cdJ1pCtFadiZxeQeVkYV96Llxib0/csnQsCXVcvVdCphkKTEpSIeyDCTLI1ltn1qvCJvfX/keL42raXHSRonIooYRKmkGh5EmQzW0mMJ3A9l2vUyShJcMC5875sv+V/zXeyPa5cHvaDa6dG+ejD1wf3PQFPcsMqcnnt1CYJEz/qqaPqe18X0mvZbuxK6g8k2L4DWZkyBHnhJFAYhS1Akqe+v+O/VY1XANeH//VXBT8Y1CxP65QzCSEAUsyTJfDt0pdmg2cBubQypeCuKVi8neJj4SZpkDIhFZWkgqYauW87gpcn0HQa5aqVmsUWg6tpUAxB4BAUuAJdAhUJa71kJcPPFgPGOSFM1ubFYIWC/LjDzhdHof8e2xz25IAAA&quot;"/>
    <we:property name="initialStateBookmark" value="&quot;H4sIAAAAAAAAA+1a224bNxD9lcUCRV6Egtz76s2WnTZI7bixkT4UhjFLjmQmq6W6y3WsBvqR/kEf8tRP8I91uLpYtnWL41jOxYahXZJDDufM5ZDWB1eqapDD8BD66LbdXa3f9aF853C35RaTtlevXh7svH55drhzsE/NemCULiq3/cE1UPbQvFFVDbmdgRr/PG25kOdH0LNvXcgrbLkDLCtdQK7+xvFg6jJljaOWi5eDXJdgpzw2YNBOe0HD6Z3W5j/7tCIIoy7wGIUZt/qYpExixGIeMh5FjAWMhnVVbkjSzpAN9y8HJWnzYbqLLGAYAY9i5sWe9NMkYAHJmOHA9nZo5Z4ulYB8NpGd581UE6/lPi91v5lxYqs+jdwvjDJD+4JSCV1R00kzIxuRHf44xxIbkY4upBprT/La2A+rIVbVpPFFcbOtmsjldb+4O/pY16XA19i9fmk0GpFFj0pN9m602q8GKBTZXYKkPlLpDeR1AxNN/puiXdKG7T5tMwk8O1aFs1OpXgHlMytxOrI/p2Og5hTYSLE71lmtXss91+87JRIW0m3zZtVqDHoD6kLYqX0l7kEU+gFkMuMcGAZ+EkXyB+5PHveLJk2Q+QyoYgIuC7IkDXzAMI5DEWMswngt/iAxEDyRsS/DNPO58CC8xv9EDw43Br6qs79qLIcW/5ubn3bQ8+/Th89wodZs4Nn8wLMDhKqmdW962zHmFCQP7zatqRJdhTm901KvSonl7rBZa0+V04TMbxtkouimipzdVuSATCLB4W3nRdEjcV05A1065A5VnRuwDmXVIfTcdjSywmN7eHOmu3eYPlJEnkCW4/IZZs62tUBs/HASJzvyAgqBNnPiPZBe4MK3NDnRBnLn4Orfaz23pssG3rd97YK2cwRCYWGwcq7+KazZGjUnNlygZFNPVdHLJySsoVrN0zgo3JxSbSevK8qFKMcO1tH9THfOoTSW+WVvKeRtoqWZ9OJc4N0vFzwIKjasxlyR5N7OMYdJmR9uHsmfGDmnTRLioUeFKYmzWMYMQ9+PU1heoBZSkC8Q5IcEIdn/Hv5Q5UpQWZwHnhYhym8fJBho9jEYL6Vw3K9l043NNheTjT2SkPp98Wya3EZLcJuxloc2hd365ORzrbR7rqTEwm2wDH2P86QrwBeBAOZhyMP1ZMNLfMa9IPXiGCIWBRlmP8jG4oo4xWJzmnHP1LKWZvht5ydnh3LIJHfC10cvrh37aRCLpTmnNYsVEQsWevbPJ2IviNLH6Td/MPtVVwNFTGezQ1knv/pIhZ38EiXm9qU5m7WWDJ9O7hyr/tV/hbOrSeTiMQ50c9taDjh00zAOGcGdYhJ7XAZZvCXAn8ihu6PKunf1EZxfsLCdK9G1yUqoAoj+UGcBM1S3djaY3rAEPIlYyimgo9DjEIbMv8b1sfjwoiS+nKV/cdJ1pCtFadiZxeQeVkYV96Llxib0/csnQsCXVcvVdCphkKTEpSIeyDCTLI1ltn1qvCJvfX/keL42raXHSRonIooYRKmkGh5EmQzW0mMJ3A9l2vUyShJcMC5875sv+V/zXeyPa5cHvaDa6dG+ejD1wf3PQFPcsMqcnnt1CYJEz/qqaPqe18X0mvZbuxK6g8k2L4DWZkyBHnhJFAYhS1Akqe+v+O/VY1XANeH//VXBT8Y1CxP65QzCSEAUsyTJfDt0pdmg2cBubQypeCuKVi8neJj4SZpkDIhFZWkgqYauW87gpcn0HQa5aqVmsUWg6tpUAxB4BAUuAJdAhUJa71kJcPPFgPGOSFM1ubFYIWC/LjDzhdHof8e2xz25IAAA&quot;"/>
    <we:property name="isFooterCollapsed" value="true"/>
    <we:property name="isFiltersActionButtonVisible" value="true"/>
    <we:property name="isVisualContainerHeaderHidden" value="false"/>
    <we:property name="reportEmbeddedTime" value="&quot;2026-03-04T22:14:23.265Z&quot;"/>
    <we:property name="creatorTenantId" value="&quot;8051c068-3df3-4224-b116-3152367abf11&quot;"/>
    <we:property name="creatorUserId" value="&quot;10032003AF12A32E&quot;"/>
    <we:property name="creatorSessionId" value="&quot;4c972dfe-adb3-46b2-80fc-a030b28c57cd&quot;"/>
    <we:property name="numberOfAnnotations" value="0"/>
    <we:property name="annotationNoteShown" value="true"/>
  </we:properties>
  <we:bindings/>
  <we:snapshot xmlns:r="http://schemas.openxmlformats.org/officeDocument/2006/relationships" r:embed="rId1"/>
</we:webextension>
</file>

<file path=ppt/webextensions/webextension14.xml><?xml version="1.0" encoding="utf-8"?>
<we:webextension xmlns:we="http://schemas.microsoft.com/office/webextensions/webextension/2010/11" id="{A2012966-C4D1-475F-8C19-36DBBB8B9B59}">
  <we:reference id="ad3bb869-dfe9-409b-95f2-98016482b42b" version="2.0.0.3" store="EXCatalog" storeType="EXCatalog"/>
  <we:alternateReferences>
    <we:reference id="wa200003233" version="2.0.0.3" store="en-us" storeType="OMEX"/>
  </we:alternateReferences>
  <we:properties>
    <we:property name="reportUrl" value="&quot;/groups/me/reports/783d045f-b8df-4719-8d17-c1cdae355294/3e890de6071501660040?ctid=8051c068-3df3-4224-b116-3152367abf11&amp;pbi_source=shareVisual&amp;visual=8978c660a69dc0546bd4&amp;height=320.00&amp;width=605.98&amp;bookmarkGuid=0df484ac-586d-49c2-aa19-b6531ceeedb8&amp;fromEntryPoint=sharevisual&quot;"/>
    <we:property name="artifactName" value="&quot;Aumentar Medicos Asignados a Especialidades con altos Ingresos como Oncologia&quot;"/>
    <we:property name="reportName" value="&quot;MedRed Clinic Efficiency&quot;"/>
    <we:property name="reportState" value="&quot;CONNECTED&quot;"/>
    <we:property name="embedUrl" value="&quot;/reportEmbed?reportId=783d045f-b8df-4719-8d17-c1cdae355294&amp;config=eyJjbHVzdGVyVXJsIjoiaHR0cHM6Ly9XQUJJLVNPVVRILUNFTlRSQUwtVVMtQy1QUklNQVJZLXJlZGlyZWN0LmFuYWx5c2lzLndpbmRvd3MubmV0IiwiZW1iZWRGZWF0dXJlcyI6eyJ1c2FnZU1ldHJpY3NWTmV4dCI6dHJ1ZX19&amp;disableSensitivityBanner=true&amp;storytellingAnnotations=true&amp;storytellingChangeViewModeShortcutKeys=true&quot;"/>
    <we:property name="pageName" value="&quot;3e890de6071501660040&quot;"/>
    <we:property name="pageDisplayName" value="&quot;Recomendaciones&quot;"/>
    <we:property name="datasetId" value="&quot;efa1a7ad-f095-4793-921d-5e4ffa30c731&quot;"/>
    <we:property name="backgroundColor" value="&quot;#1E293B&quot;"/>
    <we:property name="bookmark" value="&quot;H4sIAAAAAAAAA+1a3VIbNxR+lZ2d6XDj6Uj7v74DQ9pMCqGBoRcdhjkryUbJWnJ3tQSX8Yv0DXqRqz4CL9aj9doY8F8IwYQEhvGupCMdne/8fBK+crksBzkMD6Av3La7o/WHPhQfHOq2XNW0vX37Zn/73Zuzg+39PWzWAyO1Kt32lWug6AlzIssKcjsDNv552nIhzw+hZ9+6kJei5Q5EUWoFufxbjAdjlykqMWq54nKQ6wLslEcGjLDTXuBwfMe16c8+rgjMyAtxJJgZt/oiSQkXEYlpSGgUERIQHNaVuUFJO0M23LscFKjN1WQXWUBEBDSKiRd73E+TgAQoY4YD29vBlXu6kAzy6UR2npOJJl7LfVXofj1jY6s+jtxTRpqhfRFcMl1i03E9IxmhHf44F4WoRTpacTnWHuW1sR9WQ1GWTeNrdbutbOTyqq/ujz7SVcHEO9G9eak1GqFFDwuN9q612isHgkm0OweOfajSCeRVDRNO/pvEXeKG7T5tMwpsHUnlbJeyp6DYshKnI/tzOgZqRoG1FLtnneXqtdxz/bFTCMSCu21ar1qOQa9BnQs7ti/FPYhCP4CMZ5QCEYGfRBH/gfuzx/2iThNoPgNSNeCSIEvSwAcRxnHIYhGzMF6JP3ARMJrw2OdhmvmUeRDe4H+sBwdrA19W2V+VKIYW/9ubn3Tg8++Thy9wodZ04NnswLN9AWWF6972tiORY5A8vtu0Jkp0pcjxHZd6W3BR7AzrtXZlMUnI9K5BGkXXVeTsriL7aBIODm07r1UPxXXpDHThoDuUVW7AOpRVB9Fz29HICo/t4c2Y7sFh+kQReQxZLhbPMHW2jQVi7YdNnGzzC1BM2MwpHoD0HBe+o8mxNpA7+9f/3ui5MV3W8L7Naxe0nUNgUigjSuf6H2XNVqvZ2HCOknU9laqXNySsplr10zgo3BxTbSevSsyFgo8drKP7me6cQ2Es88veY8jbRIsz6fm5wHtYLngUVGxYjbkiyr2fYQ5NmR+uH8mfGTnWtA2TttJ9za09zyXnQrl1gqKhh0UribOYx0SEvh+nsLh4zaUnXyEBHCC8iM0DfKXMJcOSOesUuAgeB+wDBwP1PgbjpaQob8xyVW/Efs4jIrsowfVHtTVJfKMFmE4ZzWObYjWWoe9RmnQZ+CxgQDwR0nA1EfESn1AvSL04hohEQSayH0RkfrWcYLE+BXlg2llJQfy285Ozjfmlyavw7VGPG8d+HqRjYc5pTWOFxYyEnv3zkfQzpPtx+uIPbb/qciCRBa13YOvk15+w6KNfCi5y+1Kf21oLhk8md45k//o/5exoFLl4isPezLYWAw7dNIxDgnCnIok9yoMs3hDgz+RA3pFF1bv+BM4vQtnOpejaZMWkAqRG2KlgiurGzg2T25eAJhFJKQZ0FHoUwpD4N7g+FVeel8QXM/ivTroOdSkxDTvTmNwVpZHqQZTd2IS+d/lMyPmiarmcTiUEkhS5VEQDHmacpDHPNk+Nl+St748cz9amlfQ4SeOERRGBKOVYw4Mo48FKesyB+iFPu16GSYIyQpnvvfiS/y3f0/64knnUy6vtHu6rBxMf3PsCNNktq8zouVsVwFD0rC9V3feqUpMr3Jd2XXQPk01eDtVZkQkPvCQKg5AkgiWp7y/579VTVbkVIf79VbrPvtjLwgR/KYEwYhDFJEky3w5dajaoN7BTGYMq3omU5csxGiZ+kiYZAWRKWRpwrJOrljPi0mT6HktctlK92DxQdWXKATBxCErMARdBBcWt9ywFuP5iwHhHqKlsbiWWCNivC0x9YTT6H6kiE7K5IAAA&quot;"/>
    <we:property name="initialStateBookmark" value="&quot;H4sIAAAAAAAAA+1a3VIbNxR+lZ2d6XDj6Uj7v74DQ9pMCqGBoRcdhjkryUbJWnJ3tQSX8Yv0DXqRqz4CL9aj9doY8F8IwYQEhvGupCMdne/8fBK+crksBzkMD6Av3La7o/WHPhQfHOq2XNW0vX37Zn/73Zuzg+39PWzWAyO1Kt32lWug6AlzIssKcjsDNv552nIhzw+hZ9+6kJei5Q5EUWoFufxbjAdjlykqMWq54nKQ6wLslEcGjLDTXuBwfMe16c8+rgjMyAtxJJgZt/oiSQkXEYlpSGgUERIQHNaVuUFJO0M23LscFKjN1WQXWUBEBDSKiRd73E+TgAQoY4YD29vBlXu6kAzy6UR2npOJJl7LfVXofj1jY6s+jtxTRpqhfRFcMl1i03E9IxmhHf44F4WoRTpacTnWHuW1sR9WQ1GWTeNrdbutbOTyqq/ujz7SVcHEO9G9eak1GqFFDwuN9q612isHgkm0OweOfajSCeRVDRNO/pvEXeKG7T5tMwpsHUnlbJeyp6DYshKnI/tzOgZqRoG1FLtnneXqtdxz/bFTCMSCu21ar1qOQa9BnQs7ti/FPYhCP4CMZ5QCEYGfRBH/gfuzx/2iThNoPgNSNeCSIEvSwAcRxnHIYhGzMF6JP3ARMJrw2OdhmvmUeRDe4H+sBwdrA19W2V+VKIYW/9ubn3Tg8++Thy9wodZ04NnswLN9AWWF6972tiORY5A8vtu0Jkp0pcjxHZd6W3BR7AzrtXZlMUnI9K5BGkXXVeTsriL7aBIODm07r1UPxXXpDHThoDuUVW7AOpRVB9Fz29HICo/t4c2Y7sFh+kQReQxZLhbPMHW2jQVi7YdNnGzzC1BM2MwpHoD0HBe+o8mxNpA7+9f/3ui5MV3W8L7Naxe0nUNgUigjSuf6H2XNVqvZ2HCOknU9laqXNySsplr10zgo3BxTbSevSsyFgo8drKP7me6cQ2Es88veY8jbRIsz6fm5wHtYLngUVGxYjbkiyr2fYQ5NmR+uH8mfGTnWtA2TttJ9za09zyXnQrl1gqKhh0UribOYx0SEvh+nsLh4zaUnXyEBHCC8iM0DfKXMJcOSOesUuAgeB+wDBwP1PgbjpaQob8xyVW/Efs4jIrsowfVHtTVJfKMFmE4ZzWObYjWWoe9RmnQZ+CxgQDwR0nA1EfESn1AvSL04hohEQSayH0RkfrWcYLE+BXlg2llJQfy285Ozjfmlyavw7VGPG8d+HqRjYc5pTWOFxYyEnv3zkfQzpPtx+uIPbb/qciCRBa13YOvk15+w6KNfCi5y+1Kf21oLhk8md45k//o/5exoFLl4isPezLYWAw7dNIxDgnCnIok9yoMs3hDgz+RA3pFF1bv+BM4vQtnOpejaZMWkAqRG2KlgiurGzg2T25eAJhFJKQZ0FHoUwpD4N7g+FVeel8QXM/ivTroOdSkxDTvTmNwVpZHqQZTd2IS+d/lMyPmiarmcTiUEkhS5VEQDHmacpDHPNk+Nl+St748cz9amlfQ4SeOERRGBKOVYw4Mo48FKesyB+iFPu16GSYIyQpnvvfiS/y3f0/64knnUy6vtHu6rBxMf3PsCNNktq8zouVsVwFD0rC9V3feqUpMr3Jd2XXQPk01eDtVZkQkPvCQKg5AkgiWp7y/579VTVbkVIf79VbrPvtjLwgR/KYEwYhDFJEky3w5dajaoN7BTGYMq3omU5csxGiZ+kiYZAWRKWRpwrJOrljPi0mT6HktctlK92DxQdWXKATBxCErMARdBBcWt9ywFuP5iwHhHqKlsbiWWCNivC0x9YTT6H6kiE7K5IAAA&quot;"/>
    <we:property name="isFooterCollapsed" value="true"/>
    <we:property name="isFiltersActionButtonVisible" value="true"/>
    <we:property name="isVisualContainerHeaderHidden" value="false"/>
    <we:property name="reportEmbeddedTime" value="&quot;2026-03-04T22:15:13.258Z&quot;"/>
    <we:property name="creatorTenantId" value="&quot;8051c068-3df3-4224-b116-3152367abf11&quot;"/>
    <we:property name="creatorUserId" value="&quot;10032003AF12A32E&quot;"/>
    <we:property name="creatorSessionId" value="&quot;f0c6a1fa-0d78-4656-9f6b-e8196a0f5fe3&quot;"/>
    <we:property name="numberOfAnnotations" value="0"/>
    <we:property name="annotationNoteShown" value="true"/>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otalTime>92</TotalTime>
  <Words>279</Words>
  <Application>Microsoft Office PowerPoint</Application>
  <PresentationFormat>Widescreen</PresentationFormat>
  <Paragraphs>27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Segoe UI</vt:lpstr>
      <vt:lpstr>Segoe UI Semibold</vt:lpstr>
      <vt:lpstr>Office Theme</vt:lpstr>
      <vt:lpstr>Red de Hospitales y Atención Médica MedRed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 de Hospitales y Atención Médica MedRed</dc:title>
  <dc:creator>LARA REYES EDLYN AMABEL</dc:creator>
  <cp:lastModifiedBy>LARA REYES EDLYN AMABEL</cp:lastModifiedBy>
  <cp:revision>12</cp:revision>
  <dcterms:created xsi:type="dcterms:W3CDTF">2026-03-04T20:56:31Z</dcterms:created>
  <dcterms:modified xsi:type="dcterms:W3CDTF">2026-03-04T22:29:13Z</dcterms:modified>
</cp:coreProperties>
</file>